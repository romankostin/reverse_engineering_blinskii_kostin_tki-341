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5"/>
  </p:handoutMasterIdLst>
  <p:sldIdLst>
    <p:sldId id="256" r:id="rId3"/>
    <p:sldId id="267" r:id="rId4"/>
    <p:sldId id="257" r:id="rId5"/>
    <p:sldId id="258" r:id="rId6"/>
    <p:sldId id="259" r:id="rId7"/>
    <p:sldId id="266" r:id="rId8"/>
    <p:sldId id="260" r:id="rId9"/>
    <p:sldId id="261" r:id="rId10"/>
    <p:sldId id="262" r:id="rId11"/>
    <p:sldId id="263" r:id="rId12"/>
    <p:sldId id="265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800" dirty="0"/>
              <a:t>Отчет по Лабораторной  работе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№4</a:t>
            </a:r>
            <a:endParaRPr lang="ru-RU" sz="4800" dirty="0"/>
          </a:p>
        </p:txBody>
      </p:sp>
      <p:sp>
        <p:nvSpPr>
          <p:cNvPr id="4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577840" y="4834255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Подготовили: Блынский Г. В.,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Костин Р. С. – студенты 3 курса ТКИ-341.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Проверили: Сидоренко Валентина Геннадиевна – проф., доктор технических наук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Сафронов Антон Игоревич – доцент, кандидат технических наук.</a:t>
            </a:r>
            <a:endParaRPr lang="ru-RU" sz="2000" dirty="0">
              <a:latin typeface="+mj-lt"/>
              <a:ea typeface="+mj-ea"/>
              <a:cs typeface="+mj-cs"/>
            </a:endParaRPr>
          </a:p>
          <a:p>
            <a:pPr algn="r"/>
            <a:r>
              <a:rPr lang="ru-RU" sz="2000" dirty="0">
                <a:latin typeface="+mj-lt"/>
                <a:ea typeface="+mj-ea"/>
                <a:cs typeface="+mj-cs"/>
              </a:rPr>
              <a:t> </a:t>
            </a:r>
            <a:endParaRPr lang="ru-RU" sz="20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92161"/>
            <a:ext cx="4048125" cy="101537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Формулировка задания</a:t>
            </a:r>
            <a:br>
              <a:rPr lang="ru-RU" sz="3200" b="1" dirty="0"/>
            </a:b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727200" y="2116455"/>
            <a:ext cx="90424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en-US" altLang="en-US" sz="2000"/>
              <a:t>В качестве исходных данных используем программное обеспечение (ПО) из лабораторной работы "Реверс-инжиниринг ПО, созданного на языке программирования С и С++", конвертированное на язык программирования </a:t>
            </a:r>
            <a:r>
              <a:rPr lang="en-US" altLang="ru-RU" sz="2000"/>
              <a:t>Python </a:t>
            </a:r>
            <a:r>
              <a:rPr lang="en-US" altLang="en-US" sz="2000"/>
              <a:t>с языка программирования С++ с использованием средств конвертации программного кода</a:t>
            </a:r>
            <a:r>
              <a:rPr lang="ru-RU" altLang="en-US" sz="2000"/>
              <a:t>. </a:t>
            </a:r>
            <a:endParaRPr lang="ru-RU" altLang="en-US" sz="2000"/>
          </a:p>
          <a:p>
            <a:pPr indent="457200"/>
            <a:endParaRPr lang="en-US" altLang="en-US" sz="2000"/>
          </a:p>
          <a:p>
            <a:pPr indent="457200"/>
            <a:r>
              <a:rPr lang="en-US" altLang="en-US" sz="2000"/>
              <a:t>Проводим анализ и сравнение результатов, полученных в ходе конвертации ПО и его реверс-инжиниринга с использованием различных средств, делаем выводы. </a:t>
            </a: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66761"/>
            <a:ext cx="4048125" cy="101537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ПО на языке программирования С</a:t>
            </a:r>
            <a:r>
              <a:rPr lang="en-US" sz="3200" b="1" dirty="0"/>
              <a:t>++</a:t>
            </a: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764246" y="5323031"/>
            <a:ext cx="466350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Рис. 1 - Код нашей программы на языке С++</a:t>
            </a:r>
            <a:endParaRPr lang="ru-RU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0245" y="2109470"/>
            <a:ext cx="5731510" cy="3214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61595"/>
            <a:ext cx="4832985" cy="1015365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ПО на языке программирования </a:t>
            </a:r>
            <a:r>
              <a:rPr lang="en-US" sz="3200" b="1" dirty="0"/>
              <a:t>Python</a:t>
            </a:r>
            <a:endParaRPr lang="en-US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764280" y="4691380"/>
            <a:ext cx="4968875" cy="66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</a:t>
            </a:r>
            <a:r>
              <a:rPr lang="en-US" altLang="ru-RU" dirty="0"/>
              <a:t>2</a:t>
            </a:r>
            <a:r>
              <a:rPr lang="ru-RU" dirty="0"/>
              <a:t> - Код нашей программы на языке </a:t>
            </a:r>
            <a:r>
              <a:rPr lang="en-US" altLang="ru-RU" dirty="0"/>
              <a:t>Python</a:t>
            </a:r>
            <a:endParaRPr lang="ru-RU" dirty="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3160" y="2880995"/>
            <a:ext cx="5111115" cy="18103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90805"/>
            <a:ext cx="6557010" cy="1282700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Каталоги файловой системы исходного кода программы и исполняемого файля</a:t>
            </a: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289050" y="4146550"/>
            <a:ext cx="4366260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</a:t>
            </a:r>
            <a:r>
              <a:rPr lang="en-US" altLang="ru-RU" dirty="0"/>
              <a:t>3</a:t>
            </a:r>
            <a:r>
              <a:rPr lang="ru-RU" dirty="0"/>
              <a:t> - Каталог файловой системы</a:t>
            </a:r>
            <a:r>
              <a:rPr lang="en-US" altLang="ru-RU" dirty="0"/>
              <a:t> lab4</a:t>
            </a:r>
            <a:r>
              <a:rPr lang="ru-RU" altLang="ru-RU" dirty="0"/>
              <a:t> </a:t>
            </a:r>
            <a:r>
              <a:rPr lang="ru-RU" dirty="0"/>
              <a:t> </a:t>
            </a:r>
            <a:endParaRPr lang="en-US" altLang="ru-RU" dirty="0"/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855" y="2769235"/>
            <a:ext cx="5647690" cy="137731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9745" y="2730500"/>
            <a:ext cx="4829175" cy="1416050"/>
          </a:xfrm>
          <a:prstGeom prst="rect">
            <a:avLst/>
          </a:prstGeom>
        </p:spPr>
      </p:pic>
      <p:sp>
        <p:nvSpPr>
          <p:cNvPr id="9" name="TextBox 7"/>
          <p:cNvSpPr txBox="1"/>
          <p:nvPr/>
        </p:nvSpPr>
        <p:spPr>
          <a:xfrm>
            <a:off x="6849745" y="4146550"/>
            <a:ext cx="4731385" cy="874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4 - Каталог файловой системы</a:t>
            </a:r>
            <a:r>
              <a:rPr lang="en-US" altLang="ru-RU" dirty="0"/>
              <a:t> lab4/dst</a:t>
            </a:r>
            <a:r>
              <a:rPr lang="ru-RU" altLang="en-US" dirty="0"/>
              <a:t>,</a:t>
            </a:r>
            <a:r>
              <a:rPr lang="ru-RU" altLang="ru-RU" dirty="0"/>
              <a:t> </a:t>
            </a:r>
            <a:r>
              <a:rPr lang="ru-RU" dirty="0"/>
              <a:t> </a:t>
            </a:r>
            <a:r>
              <a:rPr lang="en-US" altLang="ru-RU" dirty="0"/>
              <a:t>c </a:t>
            </a:r>
            <a:r>
              <a:rPr lang="ru-RU" altLang="ru-RU" dirty="0"/>
              <a:t>содержащимся в нем исполняемым файлом </a:t>
            </a:r>
            <a:r>
              <a:rPr lang="en-US" altLang="ru-RU" dirty="0"/>
              <a:t>laba4</a:t>
            </a:r>
            <a:endParaRPr lang="en-US" alt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268605" y="62230"/>
            <a:ext cx="5830570" cy="641985"/>
          </a:xfrm>
        </p:spPr>
        <p:txBody>
          <a:bodyPr>
            <a:noAutofit/>
          </a:bodyPr>
          <a:lstStyle/>
          <a:p>
            <a:r>
              <a:rPr lang="ru-RU" altLang="ru-RU" sz="2800" b="1" dirty="0"/>
              <a:t>Информация об исходном  коде </a:t>
            </a:r>
            <a:endParaRPr lang="ru-RU" altLang="ru-RU" sz="28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912870" y="6002655"/>
            <a:ext cx="4366260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dirty="0"/>
              <a:t>Рис. 5 - Информация о файле </a:t>
            </a:r>
            <a:r>
              <a:rPr lang="en-US" dirty="0"/>
              <a:t>laba4.py</a:t>
            </a:r>
            <a:r>
              <a:rPr lang="ru-RU" altLang="ru-RU" dirty="0"/>
              <a:t> </a:t>
            </a:r>
            <a:r>
              <a:rPr lang="ru-RU" dirty="0"/>
              <a:t> </a:t>
            </a:r>
            <a:endParaRPr lang="en-US" altLang="ru-RU" dirty="0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3301365" y="1440180"/>
            <a:ext cx="5309235" cy="4562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56845"/>
            <a:ext cx="7236460" cy="1512570"/>
          </a:xfrm>
        </p:spPr>
        <p:txBody>
          <a:bodyPr>
            <a:normAutofit fontScale="90000"/>
          </a:bodyPr>
          <a:lstStyle/>
          <a:p>
            <a:pPr algn="l"/>
            <a:r>
              <a:rPr lang="ru-RU" sz="3200" b="1" dirty="0"/>
              <a:t>Созданный каталог файловой системы, созданный с помощью </a:t>
            </a:r>
            <a:r>
              <a:rPr lang="en-US" altLang="en-US" sz="3200" b="1" dirty="0"/>
              <a:t>с</a:t>
            </a:r>
            <a:r>
              <a:rPr lang="en-US" altLang="ru-RU" sz="3200" b="1" dirty="0"/>
              <a:t> </a:t>
            </a:r>
            <a:r>
              <a:rPr lang="en-US" altLang="en-US" sz="3200" b="1" dirty="0"/>
              <a:t>помощью</a:t>
            </a:r>
            <a:r>
              <a:rPr lang="en-US" altLang="ru-RU" sz="3200" b="1" dirty="0"/>
              <a:t> PyInstaller Extractor</a:t>
            </a:r>
            <a:endParaRPr lang="en-US" alt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727960" y="5733415"/>
            <a:ext cx="7319010" cy="977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6 - </a:t>
            </a:r>
            <a:r>
              <a:rPr lang="en-US" altLang="ru-RU" dirty="0"/>
              <a:t> </a:t>
            </a:r>
            <a:r>
              <a:rPr lang="en-US" altLang="en-US" dirty="0"/>
              <a:t>Исполняемые</a:t>
            </a:r>
            <a:r>
              <a:rPr lang="en-US" altLang="ru-RU" dirty="0"/>
              <a:t> </a:t>
            </a:r>
            <a:r>
              <a:rPr lang="en-US" altLang="en-US" dirty="0"/>
              <a:t>файлы</a:t>
            </a:r>
            <a:r>
              <a:rPr lang="en-US" altLang="ru-RU" dirty="0"/>
              <a:t>, </a:t>
            </a:r>
            <a:r>
              <a:rPr lang="en-US" altLang="en-US" dirty="0"/>
              <a:t>созданные</a:t>
            </a:r>
            <a:r>
              <a:rPr lang="en-US" altLang="ru-RU" dirty="0"/>
              <a:t> </a:t>
            </a:r>
            <a:r>
              <a:rPr lang="en-US" altLang="en-US" dirty="0"/>
              <a:t>во</a:t>
            </a:r>
            <a:r>
              <a:rPr lang="en-US" altLang="ru-RU" dirty="0"/>
              <a:t> </a:t>
            </a:r>
            <a:r>
              <a:rPr lang="en-US" altLang="en-US" dirty="0"/>
              <a:t>время</a:t>
            </a:r>
            <a:r>
              <a:rPr lang="en-US" altLang="ru-RU" dirty="0"/>
              <a:t> </a:t>
            </a:r>
            <a:r>
              <a:rPr lang="en-US" altLang="en-US" dirty="0"/>
              <a:t>запуска</a:t>
            </a:r>
            <a:r>
              <a:rPr lang="en-US" altLang="ru-RU" dirty="0"/>
              <a:t> exe-</a:t>
            </a:r>
            <a:r>
              <a:rPr lang="en-US" altLang="en-US" dirty="0"/>
              <a:t>файла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endParaRPr lang="en-US" altLang="en-US" dirty="0"/>
          </a:p>
          <a:p>
            <a:pPr algn="ctr"/>
            <a:r>
              <a:rPr lang="en-US" altLang="en-US" dirty="0"/>
              <a:t>сохраненные</a:t>
            </a:r>
            <a:r>
              <a:rPr lang="en-US" altLang="ru-RU" dirty="0"/>
              <a:t> </a:t>
            </a:r>
            <a:r>
              <a:rPr lang="en-US" altLang="en-US" dirty="0"/>
              <a:t>с</a:t>
            </a:r>
            <a:r>
              <a:rPr lang="en-US" altLang="ru-RU" dirty="0"/>
              <a:t> </a:t>
            </a:r>
            <a:r>
              <a:rPr lang="en-US" altLang="en-US" dirty="0"/>
              <a:t>помощью</a:t>
            </a:r>
            <a:r>
              <a:rPr lang="en-US" altLang="ru-RU" dirty="0"/>
              <a:t> PyInstaller Extractor</a:t>
            </a:r>
            <a:r>
              <a:rPr lang="ru-RU" altLang="ru-RU" dirty="0"/>
              <a:t> </a:t>
            </a:r>
            <a:r>
              <a:rPr lang="ru-RU" dirty="0"/>
              <a:t> </a:t>
            </a:r>
            <a:endParaRPr lang="en-US" altLang="ru-RU" dirty="0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3204210" y="1823720"/>
            <a:ext cx="6366510" cy="3909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090" y="146685"/>
            <a:ext cx="6758305" cy="727075"/>
          </a:xfrm>
        </p:spPr>
        <p:txBody>
          <a:bodyPr>
            <a:normAutofit/>
          </a:bodyPr>
          <a:lstStyle/>
          <a:p>
            <a:r>
              <a:rPr lang="ru-RU" sz="3200" b="1" dirty="0"/>
              <a:t>Содержимое архива </a:t>
            </a:r>
            <a:r>
              <a:rPr lang="en-US" altLang="en-US" sz="3200" b="1" dirty="0">
                <a:sym typeface="+mn-ea"/>
              </a:rPr>
              <a:t>bas</a:t>
            </a:r>
            <a:r>
              <a:rPr lang="ru-RU" altLang="en-US" sz="3200" b="1" dirty="0">
                <a:sym typeface="+mn-ea"/>
              </a:rPr>
              <a:t>е</a:t>
            </a:r>
            <a:r>
              <a:rPr lang="en-US" altLang="en-US" sz="3200" b="1" dirty="0">
                <a:sym typeface="+mn-ea"/>
              </a:rPr>
              <a:t>_library</a:t>
            </a:r>
            <a:r>
              <a:rPr lang="ru-RU" sz="3200" b="1" dirty="0"/>
              <a:t> </a:t>
            </a: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641600" y="5744210"/>
            <a:ext cx="7319010" cy="5086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7 - </a:t>
            </a:r>
            <a:r>
              <a:rPr lang="en-US" altLang="ru-RU" dirty="0"/>
              <a:t> </a:t>
            </a:r>
            <a:r>
              <a:rPr lang="ru-RU" altLang="en-US" dirty="0"/>
              <a:t>Содержимое архива </a:t>
            </a:r>
            <a:r>
              <a:rPr lang="en-US" altLang="en-US" dirty="0"/>
              <a:t>bas</a:t>
            </a:r>
            <a:r>
              <a:rPr lang="ru-RU" altLang="en-US" dirty="0"/>
              <a:t>е</a:t>
            </a:r>
            <a:r>
              <a:rPr lang="en-US" altLang="en-US" dirty="0"/>
              <a:t>_library</a:t>
            </a:r>
            <a:r>
              <a:rPr lang="ru-RU" altLang="en-US" dirty="0"/>
              <a:t> с искомым файлом </a:t>
            </a:r>
            <a:r>
              <a:rPr lang="en-US" altLang="en-US" dirty="0"/>
              <a:t>abc.py</a:t>
            </a:r>
            <a:r>
              <a:rPr lang="ru-RU" altLang="en-US" dirty="0"/>
              <a:t>с</a:t>
            </a:r>
            <a:r>
              <a:rPr lang="ru-RU" altLang="ru-RU" dirty="0"/>
              <a:t> </a:t>
            </a:r>
            <a:r>
              <a:rPr lang="ru-RU" dirty="0"/>
              <a:t> </a:t>
            </a:r>
            <a:endParaRPr lang="en-US" altLang="ru-RU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3793490" y="1481455"/>
            <a:ext cx="5015230" cy="42678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382905" y="-57785"/>
            <a:ext cx="5417820" cy="803275"/>
          </a:xfrm>
        </p:spPr>
        <p:txBody>
          <a:bodyPr>
            <a:normAutofit/>
          </a:bodyPr>
          <a:lstStyle/>
          <a:p>
            <a:r>
              <a:rPr lang="en-US" sz="3200" b="1" dirty="0"/>
              <a:t>abc.py </a:t>
            </a:r>
            <a:r>
              <a:rPr lang="ru-RU" sz="3200" b="1" dirty="0"/>
              <a:t>в </a:t>
            </a:r>
            <a:r>
              <a:rPr lang="en-US" sz="3200" b="1" dirty="0"/>
              <a:t>hex </a:t>
            </a:r>
            <a:r>
              <a:rPr lang="ru-RU" sz="3200" b="1" dirty="0"/>
              <a:t>редакторе </a:t>
            </a: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641600" y="5189220"/>
            <a:ext cx="7357745" cy="612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8 - </a:t>
            </a:r>
            <a:r>
              <a:rPr lang="en-US" altLang="ru-RU" dirty="0"/>
              <a:t> </a:t>
            </a:r>
            <a:r>
              <a:rPr lang="en-US" altLang="en-US" dirty="0"/>
              <a:t>abc.py</a:t>
            </a:r>
            <a:r>
              <a:rPr lang="ru-RU" altLang="en-US" dirty="0"/>
              <a:t>, открытый с помощью </a:t>
            </a:r>
            <a:r>
              <a:rPr lang="en-US" altLang="ru-RU" dirty="0"/>
              <a:t>Notepad++</a:t>
            </a:r>
            <a:r>
              <a:rPr lang="ru-RU" altLang="en-US" dirty="0"/>
              <a:t>, с установленным на него плагином </a:t>
            </a:r>
            <a:r>
              <a:rPr lang="en-US" altLang="en-US" dirty="0"/>
              <a:t>HEX-editor</a:t>
            </a:r>
            <a:endParaRPr lang="en-US" altLang="en-US" dirty="0"/>
          </a:p>
        </p:txBody>
      </p:sp>
      <p:pic>
        <p:nvPicPr>
          <p:cNvPr id="4" name="Изображение 3"/>
          <p:cNvPicPr/>
          <p:nvPr/>
        </p:nvPicPr>
        <p:blipFill>
          <a:blip r:embed="rId1"/>
          <a:stretch>
            <a:fillRect/>
          </a:stretch>
        </p:blipFill>
        <p:spPr>
          <a:xfrm>
            <a:off x="1127760" y="1668780"/>
            <a:ext cx="955548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5090" y="146685"/>
            <a:ext cx="6758305" cy="727075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ym typeface="+mn-ea"/>
              </a:rPr>
              <a:t>Результат</a:t>
            </a:r>
            <a:r>
              <a:rPr lang="en-US" altLang="ru-RU" sz="3200" b="1" dirty="0">
                <a:sym typeface="+mn-ea"/>
              </a:rPr>
              <a:t> </a:t>
            </a:r>
            <a:r>
              <a:rPr lang="en-US" altLang="en-US" sz="3200" b="1" dirty="0">
                <a:sym typeface="+mn-ea"/>
              </a:rPr>
              <a:t>работы</a:t>
            </a:r>
            <a:r>
              <a:rPr lang="en-US" altLang="ru-RU" sz="3200" b="1" dirty="0">
                <a:sym typeface="+mn-ea"/>
              </a:rPr>
              <a:t> </a:t>
            </a:r>
            <a:r>
              <a:rPr lang="en-US" altLang="en-US" sz="3200" b="1" dirty="0">
                <a:sym typeface="+mn-ea"/>
              </a:rPr>
              <a:t>инструмента</a:t>
            </a:r>
            <a:r>
              <a:rPr lang="en-US" altLang="ru-RU" sz="3200" b="1" dirty="0">
                <a:sym typeface="+mn-ea"/>
              </a:rPr>
              <a:t> pycdc</a:t>
            </a:r>
            <a:r>
              <a:rPr lang="ru-RU" sz="3200" b="1" dirty="0"/>
              <a:t> </a:t>
            </a:r>
            <a:endParaRPr lang="ru-RU" sz="3200" b="1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096770" y="4839970"/>
            <a:ext cx="7999095" cy="824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ru-RU" dirty="0"/>
              <a:t>Рис. 9 - </a:t>
            </a:r>
            <a:r>
              <a:rPr lang="en-US" altLang="ru-RU" dirty="0"/>
              <a:t> </a:t>
            </a:r>
            <a:r>
              <a:rPr lang="en-US" altLang="en-US" dirty="0"/>
              <a:t>Результат</a:t>
            </a:r>
            <a:r>
              <a:rPr lang="en-US" altLang="ru-RU" dirty="0"/>
              <a:t> </a:t>
            </a:r>
            <a:r>
              <a:rPr lang="en-US" altLang="en-US" dirty="0"/>
              <a:t>работы</a:t>
            </a:r>
            <a:r>
              <a:rPr lang="en-US" altLang="ru-RU" dirty="0"/>
              <a:t> </a:t>
            </a:r>
            <a:r>
              <a:rPr lang="en-US" altLang="en-US" dirty="0"/>
              <a:t>инструмента</a:t>
            </a:r>
            <a:r>
              <a:rPr lang="en-US" altLang="ru-RU" dirty="0"/>
              <a:t> pycdc</a:t>
            </a:r>
            <a:r>
              <a:rPr lang="ru-RU" altLang="en-US" dirty="0"/>
              <a:t>: </a:t>
            </a:r>
            <a:endParaRPr lang="ru-RU" altLang="en-US" dirty="0"/>
          </a:p>
          <a:p>
            <a:pPr algn="ctr"/>
            <a:r>
              <a:rPr lang="en-US" altLang="en-US" dirty="0"/>
              <a:t>исходный</a:t>
            </a:r>
            <a:r>
              <a:rPr lang="en-US" altLang="ru-RU" dirty="0"/>
              <a:t> </a:t>
            </a:r>
            <a:r>
              <a:rPr lang="en-US" altLang="en-US" dirty="0"/>
              <a:t>код</a:t>
            </a:r>
            <a:r>
              <a:rPr lang="en-US" altLang="ru-RU" dirty="0"/>
              <a:t> </a:t>
            </a:r>
            <a:r>
              <a:rPr lang="en-US" altLang="en-US" dirty="0"/>
              <a:t>на</a:t>
            </a:r>
            <a:r>
              <a:rPr lang="en-US" altLang="ru-RU" dirty="0"/>
              <a:t> Python,</a:t>
            </a:r>
            <a:r>
              <a:rPr lang="ru-RU" altLang="en-US" dirty="0"/>
              <a:t> </a:t>
            </a:r>
            <a:r>
              <a:rPr lang="en-US" altLang="en-US" dirty="0"/>
              <a:t>написанный</a:t>
            </a:r>
            <a:r>
              <a:rPr lang="ru-RU" altLang="en-US" dirty="0"/>
              <a:t> </a:t>
            </a:r>
            <a:r>
              <a:rPr lang="en-US" altLang="en-US" dirty="0"/>
              <a:t>изначально</a:t>
            </a:r>
            <a:endParaRPr lang="en-US" altLang="en-US" dirty="0"/>
          </a:p>
        </p:txBody>
      </p:sp>
      <p:pic>
        <p:nvPicPr>
          <p:cNvPr id="3" name="Изображение 2"/>
          <p:cNvPicPr/>
          <p:nvPr/>
        </p:nvPicPr>
        <p:blipFill>
          <a:blip r:embed="rId1"/>
          <a:stretch>
            <a:fillRect/>
          </a:stretch>
        </p:blipFill>
        <p:spPr>
          <a:xfrm>
            <a:off x="1853565" y="2698750"/>
            <a:ext cx="8484870" cy="2141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18080" y="99695"/>
            <a:ext cx="7523480" cy="848360"/>
          </a:xfrm>
        </p:spPr>
        <p:txBody>
          <a:bodyPr>
            <a:normAutofit fontScale="90000"/>
          </a:bodyPr>
          <a:lstStyle/>
          <a:p>
            <a:r>
              <a:rPr lang="ru-RU" sz="4800" dirty="0" smtClean="0"/>
              <a:t>Вывод</a:t>
            </a:r>
            <a:endParaRPr lang="ru-RU" sz="4800" dirty="0" smtClean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626360" y="1120775"/>
            <a:ext cx="7527925" cy="5523865"/>
          </a:xfrm>
        </p:spPr>
        <p:txBody>
          <a:bodyPr>
            <a:normAutofit lnSpcReduction="20000"/>
          </a:bodyPr>
          <a:lstStyle/>
          <a:p>
            <a:pPr algn="l">
              <a:lnSpc>
                <a:spcPct val="100000"/>
              </a:lnSpc>
            </a:pPr>
            <a:r>
              <a:rPr lang="ru-RU" sz="2800" dirty="0">
                <a:solidFill>
                  <a:schemeClr val="tx1"/>
                </a:solidFill>
              </a:rPr>
              <a:t>Можно сделать вывод, что код, написанный на </a:t>
            </a:r>
            <a:r>
              <a:rPr lang="en-US" sz="2800" dirty="0">
                <a:solidFill>
                  <a:schemeClr val="tx1"/>
                </a:solidFill>
              </a:rPr>
              <a:t>Python</a:t>
            </a:r>
            <a:r>
              <a:rPr lang="ru-RU" altLang="en-US" sz="2800" dirty="0">
                <a:solidFill>
                  <a:schemeClr val="tx1"/>
                </a:solidFill>
              </a:rPr>
              <a:t>,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ru-RU" sz="2800" dirty="0">
                <a:solidFill>
                  <a:schemeClr val="tx1"/>
                </a:solidFill>
              </a:rPr>
              <a:t>не безопасен, потому что такой код можно получить посредством реверс анализа, что мы и сделали в ходе данной лабораторной работы выполнив следующие шаги:</a:t>
            </a:r>
            <a:br>
              <a:rPr lang="ru-RU" sz="2800" dirty="0">
                <a:solidFill>
                  <a:schemeClr val="tx1"/>
                </a:solidFill>
              </a:rPr>
            </a:br>
            <a:r>
              <a:rPr lang="ru-RU" sz="2800" dirty="0">
                <a:solidFill>
                  <a:schemeClr val="tx1"/>
                </a:solidFill>
              </a:rPr>
              <a:t> - с помощью </a:t>
            </a:r>
            <a:r>
              <a:rPr lang="en-US" altLang="ru-RU" sz="2800" dirty="0">
                <a:sym typeface="+mn-ea"/>
              </a:rPr>
              <a:t>PyInstaller Extractor</a:t>
            </a:r>
            <a:r>
              <a:rPr lang="ru-RU" altLang="ru-RU" sz="2800" dirty="0">
                <a:sym typeface="+mn-ea"/>
              </a:rPr>
              <a:t> сохранили и</a:t>
            </a:r>
            <a:r>
              <a:rPr lang="en-US" altLang="en-US" sz="2800" dirty="0">
                <a:sym typeface="+mn-ea"/>
              </a:rPr>
              <a:t>сполняемые</a:t>
            </a:r>
            <a:r>
              <a:rPr lang="en-US" altLang="ru-RU" sz="2800" dirty="0">
                <a:sym typeface="+mn-ea"/>
              </a:rPr>
              <a:t> </a:t>
            </a:r>
            <a:r>
              <a:rPr lang="en-US" altLang="en-US" sz="2800" dirty="0">
                <a:sym typeface="+mn-ea"/>
              </a:rPr>
              <a:t>файлы</a:t>
            </a:r>
            <a:r>
              <a:rPr lang="en-US" altLang="ru-RU" sz="2800" dirty="0">
                <a:sym typeface="+mn-ea"/>
              </a:rPr>
              <a:t>, </a:t>
            </a:r>
            <a:r>
              <a:rPr lang="en-US" altLang="en-US" sz="2800" dirty="0">
                <a:sym typeface="+mn-ea"/>
              </a:rPr>
              <a:t>созданные</a:t>
            </a:r>
            <a:r>
              <a:rPr lang="en-US" altLang="ru-RU" sz="2800" dirty="0">
                <a:sym typeface="+mn-ea"/>
              </a:rPr>
              <a:t> </a:t>
            </a:r>
            <a:r>
              <a:rPr lang="en-US" altLang="en-US" sz="2800" dirty="0">
                <a:sym typeface="+mn-ea"/>
              </a:rPr>
              <a:t>во</a:t>
            </a:r>
            <a:r>
              <a:rPr lang="en-US" altLang="ru-RU" sz="2800" dirty="0">
                <a:sym typeface="+mn-ea"/>
              </a:rPr>
              <a:t> </a:t>
            </a:r>
            <a:r>
              <a:rPr lang="en-US" altLang="en-US" sz="2800" dirty="0">
                <a:sym typeface="+mn-ea"/>
              </a:rPr>
              <a:t>время</a:t>
            </a:r>
            <a:r>
              <a:rPr lang="en-US" altLang="ru-RU" sz="2800" dirty="0">
                <a:sym typeface="+mn-ea"/>
              </a:rPr>
              <a:t> </a:t>
            </a:r>
            <a:r>
              <a:rPr lang="en-US" altLang="en-US" sz="2800" dirty="0">
                <a:sym typeface="+mn-ea"/>
              </a:rPr>
              <a:t>запуска</a:t>
            </a:r>
            <a:r>
              <a:rPr lang="en-US" altLang="ru-RU" sz="2800" dirty="0">
                <a:sym typeface="+mn-ea"/>
              </a:rPr>
              <a:t> exe-</a:t>
            </a:r>
            <a:r>
              <a:rPr lang="en-US" altLang="en-US" sz="2800" dirty="0">
                <a:sym typeface="+mn-ea"/>
              </a:rPr>
              <a:t>файла</a:t>
            </a:r>
            <a:endParaRPr lang="en-US" altLang="en-US" sz="2800" dirty="0"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ru-RU" altLang="en-US" sz="2800" dirty="0">
                <a:sym typeface="+mn-ea"/>
              </a:rPr>
              <a:t>- открыв файл </a:t>
            </a:r>
            <a:r>
              <a:rPr lang="en-US" altLang="en-US" sz="2800" dirty="0">
                <a:sym typeface="+mn-ea"/>
              </a:rPr>
              <a:t>abc.py</a:t>
            </a:r>
            <a:r>
              <a:rPr lang="ru-RU" altLang="en-US" sz="2800" dirty="0">
                <a:sym typeface="+mn-ea"/>
              </a:rPr>
              <a:t>с </a:t>
            </a:r>
            <a:r>
              <a:rPr lang="en-US" altLang="en-US" sz="2800" dirty="0">
                <a:sym typeface="+mn-ea"/>
              </a:rPr>
              <a:t>hex </a:t>
            </a:r>
            <a:r>
              <a:rPr lang="ru-RU" altLang="en-US" sz="2800" dirty="0">
                <a:sym typeface="+mn-ea"/>
              </a:rPr>
              <a:t>редактором, скопировали первую строку</a:t>
            </a:r>
            <a:endParaRPr lang="ru-RU" altLang="en-US" sz="2800" dirty="0"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ru-RU" altLang="en-US" sz="2800" dirty="0">
                <a:sym typeface="+mn-ea"/>
              </a:rPr>
              <a:t>-  вставили скопированную строку в файл </a:t>
            </a:r>
            <a:r>
              <a:rPr lang="en-US" altLang="ru-RU" sz="2800" dirty="0">
                <a:sym typeface="+mn-ea"/>
              </a:rPr>
              <a:t>laba4</a:t>
            </a:r>
            <a:r>
              <a:rPr lang="en-US" altLang="en-US" sz="2800" dirty="0">
                <a:sym typeface="+mn-ea"/>
              </a:rPr>
              <a:t>.pyc</a:t>
            </a:r>
            <a:r>
              <a:rPr lang="ru-RU" altLang="en-US" sz="2800" dirty="0">
                <a:sym typeface="+mn-ea"/>
              </a:rPr>
              <a:t> </a:t>
            </a:r>
            <a:endParaRPr lang="ru-RU" altLang="en-US" sz="2800" dirty="0"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ru-RU" sz="2800" dirty="0">
                <a:sym typeface="+mn-ea"/>
              </a:rPr>
              <a:t>-</a:t>
            </a:r>
            <a:r>
              <a:rPr lang="ru-RU" altLang="en-US" sz="2800" dirty="0">
                <a:sym typeface="+mn-ea"/>
              </a:rPr>
              <a:t> воспользовавшись инструментом </a:t>
            </a:r>
            <a:r>
              <a:rPr lang="en-US" altLang="ru-RU" sz="2800" dirty="0">
                <a:sym typeface="+mn-ea"/>
              </a:rPr>
              <a:t>pycdc</a:t>
            </a:r>
            <a:r>
              <a:rPr lang="ru-RU" altLang="en-US" sz="2800" dirty="0">
                <a:sym typeface="+mn-ea"/>
              </a:rPr>
              <a:t>,</a:t>
            </a:r>
            <a:r>
              <a:rPr lang="en-US" altLang="ru-RU" sz="2800" dirty="0">
                <a:sym typeface="+mn-ea"/>
              </a:rPr>
              <a:t> </a:t>
            </a:r>
            <a:r>
              <a:rPr lang="ru-RU" altLang="en-US" sz="2800" dirty="0">
                <a:sym typeface="+mn-ea"/>
              </a:rPr>
              <a:t>получили изначальный код</a:t>
            </a:r>
            <a:endParaRPr lang="ru-RU" altLang="en-US" sz="2800" dirty="0">
              <a:sym typeface="+mn-ea"/>
            </a:endParaRPr>
          </a:p>
          <a:p>
            <a:pPr algn="l"/>
            <a:endParaRPr lang="ru-RU" sz="2800" dirty="0">
              <a:solidFill>
                <a:schemeClr val="tx1"/>
              </a:solidFill>
            </a:endParaRPr>
          </a:p>
          <a:p>
            <a:pPr algn="l"/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2155</Words>
  <Application>WPS Presentation</Application>
  <PresentationFormat>宽屏</PresentationFormat>
  <Paragraphs>79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Times New Roman</vt:lpstr>
      <vt:lpstr>Microsoft YaHei</vt:lpstr>
      <vt:lpstr>Arial Unicode MS</vt:lpstr>
      <vt:lpstr>Calibri</vt:lpstr>
      <vt:lpstr>Office Theme</vt:lpstr>
      <vt:lpstr>Отчет по Лабораторной  работе №4</vt:lpstr>
      <vt:lpstr>Формулировка задания </vt:lpstr>
      <vt:lpstr>ПО на языке программирования С++</vt:lpstr>
      <vt:lpstr>ПО на языке программирования Python</vt:lpstr>
      <vt:lpstr>Каталоги файловой системы исходного кода программы и исполняемого файля</vt:lpstr>
      <vt:lpstr>Информация об исходном  коде </vt:lpstr>
      <vt:lpstr>Созданный каталог файловой системы, созданный с помощью с помощью PyInstaller Extractor</vt:lpstr>
      <vt:lpstr>Содержимое архива basе_library </vt:lpstr>
      <vt:lpstr>abc.py в hex редакторе </vt:lpstr>
      <vt:lpstr>Результат работы инструмента pycdc </vt:lpstr>
      <vt:lpstr>Вывод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Герман Блынский</cp:lastModifiedBy>
  <cp:revision>13</cp:revision>
  <dcterms:created xsi:type="dcterms:W3CDTF">2025-07-23T00:59:00Z</dcterms:created>
  <dcterms:modified xsi:type="dcterms:W3CDTF">2026-05-18T16:45:25Z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E9570D2E314C4FE9B5D2497FAA2293AB_13</vt:lpwstr>
  </property>
</Properties>
</file>