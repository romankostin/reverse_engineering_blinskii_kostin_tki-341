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Герман Блынский" initials="ГБ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652B2-8C6E-419B-8E93-813F678ADC08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6DC3D-C717-495C-B489-C044A339A551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43F6D-F931-4A71-A15D-2B264EF1AB73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362CE-C055-49FC-B546-755736F22EB5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ACE1-21D3-431B-BB16-11F730503F41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90E54-7C12-4AA1-97C8-2D329171C2CD}" type="datetime1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BD5FB-95D5-46AF-A9FF-68F9AE7921F6}" type="datetime1">
              <a:rPr lang="ru-RU" smtClean="0"/>
              <a:t>19.02.2026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050D7-52F7-4420-ADAD-F5D78D8B0ECD}" type="datetime1">
              <a:rPr lang="ru-RU" smtClean="0"/>
              <a:t>19.02.2026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76D4-D711-4CA3-BAFD-0106F3401A9A}" type="datetime1">
              <a:rPr lang="ru-RU" smtClean="0"/>
              <a:t>19.02.2026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B8C9D-6602-42BD-B402-30C2B4239D8F}" type="datetime1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8DE63-C279-41BA-9104-D9533059161D}" type="datetime1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F3D71-8A8E-4DBA-8033-AAB5462B6CE0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3D6A-3CF2-4553-BAC0-BB06B6F47902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AF765-F399-45DB-B93D-F8E5B81DD6F0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71148-F1FE-4D36-8801-91DDAE74A626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76375" y="2028825"/>
            <a:ext cx="9239250" cy="1400175"/>
          </a:xfrm>
        </p:spPr>
        <p:txBody>
          <a:bodyPr>
            <a:no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 </a:t>
            </a:r>
            <a:b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практической работе №1</a:t>
            </a:r>
            <a:b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дисциплине «Технология реверс-инжиниринга»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010526" y="5372100"/>
            <a:ext cx="4181474" cy="1314450"/>
          </a:xfrm>
        </p:spPr>
        <p:txBody>
          <a:bodyPr>
            <a:normAutofit fontScale="92500"/>
          </a:bodyPr>
          <a:lstStyle/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выполнили: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ст. гр. ТКИ-341 Блынский Г. В.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ст. гр. ТКИ-341 Костин Р. С.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34472" y="1018923"/>
            <a:ext cx="1048327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1. Сравнение энтропии неупакованного и упакованного файлов</a:t>
            </a:r>
          </a:p>
          <a:p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40872" y="1856508"/>
            <a:ext cx="87468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Выбрать минимум 3 исполняемых файла, написанных на разных языках программирования (С или С++, С#,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и, желательно, решающих одну и ту же задачу, просмотреть их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-редакторе и построить гистограммы.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помощи программы NIST, Radare2 или другого ПО рассчитать энтропию исходных и упакованных файлов. 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Выбрать несколько текстовых, табличных, графических и аудио файлов в разных форматах, желательно, имеющих идентичное содержание, просмотреть их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-редакторе и построить гистограммы.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Упаковать выбранные файлы, просмотреть их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-редакторе. 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Полученные результаты представить в виде таблиц. Для каждого файла и типа упаковщика указать размер и энтропию файла, отношение размера и энтропии упакованного файла к аналогичным параметрам неупакованного.</a:t>
            </a: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3BE43CF-E12C-4D05-8753-80395165D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26" y="1828800"/>
            <a:ext cx="4334121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61825" y="5029200"/>
            <a:ext cx="4334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 – Код программы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ЯП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876" y="1515631"/>
            <a:ext cx="6697298" cy="4054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095999" y="5570554"/>
            <a:ext cx="36149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Шестнадцатеричный дамп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05C3227-F6EC-464F-B0DE-846B21221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3</a:t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62" y="848796"/>
            <a:ext cx="6751533" cy="516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449660" y="6211969"/>
            <a:ext cx="426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3 – Дизассемблирование программы 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0014" y="282296"/>
            <a:ext cx="3834354" cy="5815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846219" y="6206372"/>
            <a:ext cx="3581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4 – Информация о программе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1C39A5F-ACF0-4719-AC20-F7954B54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022" y="3222894"/>
            <a:ext cx="8825087" cy="2710289"/>
          </a:xfrm>
          <a:prstGeom prst="rect">
            <a:avLst/>
          </a:prstGeom>
        </p:spPr>
      </p:pic>
      <p:sp>
        <p:nvSpPr>
          <p:cNvPr id="3" name="Текстовое поле 2"/>
          <p:cNvSpPr txBox="1"/>
          <p:nvPr/>
        </p:nvSpPr>
        <p:spPr>
          <a:xfrm>
            <a:off x="3919855" y="6057151"/>
            <a:ext cx="4352290" cy="406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Рис. 5 – Гистограмма распределения </a:t>
            </a:r>
            <a:endParaRPr lang="ru-RU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Текстовое поле 2"/>
          <p:cNvSpPr txBox="1"/>
          <p:nvPr/>
        </p:nvSpPr>
        <p:spPr>
          <a:xfrm>
            <a:off x="4642374" y="2754510"/>
            <a:ext cx="2023745" cy="406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Рис. 6 – Энтропия </a:t>
            </a:r>
            <a:endParaRPr lang="ru-RU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535" y="303265"/>
            <a:ext cx="2505425" cy="240063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41B968-11B4-4DEF-A430-E8329146B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5</a:t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491" y="2118012"/>
            <a:ext cx="4412078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519853" y="4957329"/>
            <a:ext cx="407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8 – Код программы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ЯП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637" y="222321"/>
            <a:ext cx="3470384" cy="5748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238043" y="6031618"/>
            <a:ext cx="3603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7 – Информация о программе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2420C4B-B652-463E-A610-AE4CE6A94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6</a:t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07" y="1250157"/>
            <a:ext cx="5435003" cy="4357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075" y="1328738"/>
            <a:ext cx="6225018" cy="4200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37622" y="5750004"/>
            <a:ext cx="3603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8 – Шестнадцатеричный дамп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64926" y="5750004"/>
            <a:ext cx="428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9 – Дизассемблирование программы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7B1BA5B-F6C9-458D-BAEA-DC19FB344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7</a:t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046" y="3504294"/>
            <a:ext cx="8649907" cy="263879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304" y="427013"/>
            <a:ext cx="2486372" cy="24387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22179" y="3000357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10 – Энтропия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21771" y="6277692"/>
            <a:ext cx="3883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11 – Гистограмма распределения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8918B3-DBB4-4056-9994-8BA0451A7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8</a:t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723" y="2631996"/>
            <a:ext cx="3110248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598" y="429705"/>
            <a:ext cx="3505200" cy="550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432260" y="4384596"/>
            <a:ext cx="3841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13 – Код программы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test3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ЯП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59147" y="6011350"/>
            <a:ext cx="324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– Информация о файле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434C427-188A-40F6-ACF7-DD19EA6D5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9</a:t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700734"/>
            <a:ext cx="5486400" cy="526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0" y="1190625"/>
            <a:ext cx="6018885" cy="4476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12864" y="5966766"/>
            <a:ext cx="3726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14 – Шестнадцатеричный дамп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70216" y="5782100"/>
            <a:ext cx="4507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15 – Дизассемблирование программы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980F164-07EE-4E5E-87AA-B2A23BAB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10</a:t>
            </a:fld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994" y="3532292"/>
            <a:ext cx="8688012" cy="261974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761" y="380539"/>
            <a:ext cx="2524477" cy="24577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54688" y="3000646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16 – Энтропия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52389" y="6314347"/>
            <a:ext cx="388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17 – Гистограмма распределения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8A3C93-5F6E-4749-9930-616318724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11</a:t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485" y="296068"/>
            <a:ext cx="2710432" cy="554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81485" y="5936312"/>
            <a:ext cx="28422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18 – Информация о упакованном файле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308" y="1102284"/>
            <a:ext cx="7515682" cy="225055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673" y="3874496"/>
            <a:ext cx="2514951" cy="24577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26888" y="3429000"/>
            <a:ext cx="5332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19 – Гистограмма распределения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2270" y="6332289"/>
            <a:ext cx="5332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20 – Гистограмма энтропия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1F0FEA7-E482-4884-8279-C5D364DA8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12</a:t>
            </a:fld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379" y="336817"/>
            <a:ext cx="2576512" cy="5603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35379" y="6031717"/>
            <a:ext cx="3707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21 – Информация о упакованном файле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681" y="1096771"/>
            <a:ext cx="7426836" cy="225179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205" y="3878764"/>
            <a:ext cx="2524477" cy="24863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4082" y="3429000"/>
            <a:ext cx="4215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Гистограмма распределения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6091" y="6400668"/>
            <a:ext cx="218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Энтропия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12EF920-861E-4727-BF5F-A40B32E40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13</a:t>
            </a:fld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51" y="381866"/>
            <a:ext cx="2867780" cy="575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17251" y="6134966"/>
            <a:ext cx="2745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23 – Информация о упакованном файле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test3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491" y="1118202"/>
            <a:ext cx="7618936" cy="231079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589" y="3950538"/>
            <a:ext cx="2438740" cy="24482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16958" y="3505103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24 – Гистограмма распределения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3353" y="6411965"/>
            <a:ext cx="2111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25 – Энтропия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1F045F-0FBB-418C-9643-28D031BC1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14</a:t>
            </a:fld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01" y="1034071"/>
            <a:ext cx="5808122" cy="167953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636" y="3429000"/>
            <a:ext cx="3429019" cy="262756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561" y="1034071"/>
            <a:ext cx="5823193" cy="167953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8053" y="3454051"/>
            <a:ext cx="3280055" cy="25127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4983" y="2767026"/>
            <a:ext cx="5293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26 – Гистограмма распределения для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txt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2273" y="2747878"/>
            <a:ext cx="4501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27 – Гистограмма распределения для заархивированного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txt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9538" y="6164538"/>
            <a:ext cx="3031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28 – Энтропия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txt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1561" y="6074506"/>
            <a:ext cx="4978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29 – Энтропия заархивированного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txt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238BDC-1AA8-4F91-8E10-32ECD1D00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15</a:t>
            </a:fld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14983" y="2767026"/>
            <a:ext cx="5293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30 – Гистограмма распределения для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2273" y="2747878"/>
            <a:ext cx="4501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31 – Гистограмма распределения для заархивированного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9538" y="6164538"/>
            <a:ext cx="308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32 – Энтропия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6050" y="6074506"/>
            <a:ext cx="5029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33 – Энтропия заархивированного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11" y="1060020"/>
            <a:ext cx="5827423" cy="1687858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506" y="3559555"/>
            <a:ext cx="3258005" cy="2514951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822" y="1066988"/>
            <a:ext cx="5660667" cy="1658235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8335" y="3559555"/>
            <a:ext cx="3046409" cy="2355283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215CBB9-1FC9-414F-A98D-CC0F90C88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16</a:t>
            </a:fld>
            <a:endParaRPr 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14983" y="2767026"/>
            <a:ext cx="5293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34 – Гистограмма распределения для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2273" y="2747878"/>
            <a:ext cx="4501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35 – Гистограмма распределения для заархивированного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9538" y="6164538"/>
            <a:ext cx="313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36 – Энтропия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6050" y="6074506"/>
            <a:ext cx="5080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37 – Энтропия заархивированного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55" y="1056486"/>
            <a:ext cx="5734093" cy="164522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676" y="3698588"/>
            <a:ext cx="3210373" cy="240063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782" y="1106769"/>
            <a:ext cx="5600563" cy="160691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1967" y="3640067"/>
            <a:ext cx="3219899" cy="2448267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509DF9-7D3A-4C6E-8284-9E852F3C2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17</a:t>
            </a:fld>
            <a:endParaRPr 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14983" y="2767026"/>
            <a:ext cx="5291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Гистограмма распределения для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jpg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2273" y="2747878"/>
            <a:ext cx="4501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Гистограмма распределения для заархивированного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jpg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9538" y="6164538"/>
            <a:ext cx="308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Энтропия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jpg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6050" y="6074506"/>
            <a:ext cx="5029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Энтропия заархивированного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jpg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04" y="1022446"/>
            <a:ext cx="6023096" cy="1725432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317" y="3626239"/>
            <a:ext cx="3238952" cy="244826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426" y="1054479"/>
            <a:ext cx="5795459" cy="1693399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1269" y="3585382"/>
            <a:ext cx="3238952" cy="2467319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556EA9F-E859-4ECC-82F3-A735ABE40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18</a:t>
            </a:fld>
            <a:endParaRPr 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14983" y="2767026"/>
            <a:ext cx="540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Гистограмма распределения для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mp3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2273" y="2747878"/>
            <a:ext cx="4501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Гистограмма распределения для заархивированного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mp3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9538" y="6164538"/>
            <a:ext cx="319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Энтропия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mp3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6050" y="6074506"/>
            <a:ext cx="5144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Энтропия заархивированного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mp3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65" y="1067745"/>
            <a:ext cx="5720272" cy="165077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592" y="3647840"/>
            <a:ext cx="3229426" cy="241968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932" y="1047134"/>
            <a:ext cx="5720272" cy="169199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4214" y="3571630"/>
            <a:ext cx="3248478" cy="2495898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75BA90-D6B6-4FE8-B549-5DACEE493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19</a:t>
            </a:fld>
            <a:endParaRPr lang="ru-R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14983" y="2767026"/>
            <a:ext cx="5381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Гистограмма распределения для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2273" y="2747878"/>
            <a:ext cx="4501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47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Гистограмма распределения для заархивированного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9538" y="6164538"/>
            <a:ext cx="317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Энтропия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6050" y="6074506"/>
            <a:ext cx="5119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Энтропия заархивированного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65" y="1069846"/>
            <a:ext cx="5734869" cy="1644558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498" y="3654123"/>
            <a:ext cx="3258005" cy="2457793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0495" y="1096601"/>
            <a:ext cx="5734869" cy="1650582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503" y="3654123"/>
            <a:ext cx="3219899" cy="241968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7AC776B-331B-4E45-A827-57C743287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20</a:t>
            </a:fld>
            <a:endParaRPr 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14983" y="2767026"/>
            <a:ext cx="5381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Гистограмма распределения для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xlsx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2273" y="2747878"/>
            <a:ext cx="4501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Гистограмма распределения для заархивированного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xlsx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9538" y="6164538"/>
            <a:ext cx="317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Энтропия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xlsx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6050" y="6074506"/>
            <a:ext cx="5119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53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Энтропия заархивированного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xlsx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65" y="1122254"/>
            <a:ext cx="5591935" cy="160361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674" y="3595848"/>
            <a:ext cx="3258005" cy="248637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288" y="1052191"/>
            <a:ext cx="5996447" cy="174373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489" y="3664345"/>
            <a:ext cx="3277057" cy="241016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799CA4-AF93-4E29-AEBC-8C04DA25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21</a:t>
            </a:fld>
            <a:endParaRPr lang="ru-R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14983" y="2767026"/>
            <a:ext cx="5304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Гистограмма распределения для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2273" y="2747878"/>
            <a:ext cx="4501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Гистограмма распределения для заархивированного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9538" y="6164538"/>
            <a:ext cx="309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Энтропия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6050" y="6074506"/>
            <a:ext cx="5042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Энтропия заархивированного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07" y="924218"/>
            <a:ext cx="6026583" cy="1741861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150" y="3683397"/>
            <a:ext cx="3296110" cy="244826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836" y="1069756"/>
            <a:ext cx="5578357" cy="1596323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444" y="3683397"/>
            <a:ext cx="3229426" cy="2391109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243999D-7CBB-420D-8A69-D5FA44ED0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22</a:t>
            </a:fld>
            <a:endParaRPr lang="ru-R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95" y="2012315"/>
            <a:ext cx="11675110" cy="28327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86750" y="4991831"/>
            <a:ext cx="39141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Таблица результатов работы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FDD626-43B7-4168-968C-184ACDDBB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23</a:t>
            </a:fld>
            <a:endParaRPr lang="ru-R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1"/>
          <p:cNvSpPr txBox="1"/>
          <p:nvPr/>
        </p:nvSpPr>
        <p:spPr>
          <a:xfrm>
            <a:off x="281940" y="649605"/>
            <a:ext cx="11628120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</a:p>
          <a:p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1)Исходный код на разных языках программирования: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Исходный код на C++ имеет самую низкую энтропию среди всех исследованных файлов, что указывает на его высокую предсказуемость и структурированность.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Исходный код на </a:t>
            </a:r>
            <a:r>
              <a:rPr lang="ru-RU" alt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C# имеет более высокую энтропию, что связано с большей сложностью и разнообразием синтаксиса этих языков.</a:t>
            </a:r>
          </a:p>
          <a:p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Текстовые файлы: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Текстовые файлы (</a:t>
            </a:r>
            <a:r>
              <a:rPr lang="ru-RU" alt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txt</a:t>
            </a:r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CSV) имеют низкую энтропию, что указывает на их предсказуемость и повторяемость символов.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Упаковка текстовых файлов значительно увеличивает их энтропию, что связано с добавлением дополнительных данных и сжатием.</a:t>
            </a:r>
          </a:p>
          <a:p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Табличные файлы: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Табличные файлы (</a:t>
            </a:r>
            <a:r>
              <a:rPr lang="ru-RU" alt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xlsx</a:t>
            </a:r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odt</a:t>
            </a:r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имеют высокую энтропию, что связано с их сложной структурой и разнообразием данных.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Упаковка табличных файлов незначительно изменяет их энтропию, что указывает на высокую эффективность сжатия.</a:t>
            </a:r>
          </a:p>
          <a:p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Изображения: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Изображения (</a:t>
            </a:r>
            <a:r>
              <a:rPr lang="ru-RU" alt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png</a:t>
            </a:r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jpg</a:t>
            </a:r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имеют высокую энтропию, что связано с их сложной структурой и большим количеством уникальных данных.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Упаковка изображений незначительно изменяет их энтропию, что указывает на высокую эффективность сжатия.</a:t>
            </a:r>
          </a:p>
          <a:p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Аудио файлы: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Аудио файлы (mp3, </a:t>
            </a:r>
            <a:r>
              <a:rPr lang="ru-RU" alt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</a:t>
            </a:r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имеют высокую энтропию, что связано с их сложной структурой и большим количеством уникальных данных.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Упаковка аудио файлов незначительно изменяет их энтропию, что указывает на высокую эффективность сжатия.</a:t>
            </a:r>
          </a:p>
          <a:p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 Упаковка файлов: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Упаковка файлов значительно увеличивает их энтропию, что связано с добавлением дополнительных данных и сжатием.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Упаковка файлов также уменьшает их размер, что указывает на высокую эффективность сжатия.</a:t>
            </a:r>
          </a:p>
          <a:p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7) Отношение размеров и энтропий: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Отношение размеров упакованных и неупакованных файлов показывает, что упаковка значительно уменьшает размер файлов.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Отношение энтропий упакованных и неупакованных файлов показывает, что упаковка значительно увеличивает энтропию файлов.</a:t>
            </a:r>
          </a:p>
          <a:p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Заключение:</a:t>
            </a:r>
          </a:p>
          <a:p>
            <a:r>
              <a:rPr lang="ru-RU" alt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лабораторной работы были исследованы различные типы файлов и их энтропия. Было показано, что упаковка файлов значительно увеличивает их энтропию и уменьшает их размер. Это указывает на высокую эффективность сжатия и возможность использования упаковки для уменьшения размера файлов.</a:t>
            </a:r>
          </a:p>
          <a:p>
            <a:endParaRPr lang="ru-RU" alt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6194F-63BA-46FB-BF6B-0C401F00D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71148-F1FE-4D36-8801-91DDAE74A626}" type="slidenum">
              <a:rPr lang="ru-RU" smtClean="0"/>
              <a:t>24</a:t>
            </a:fld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9</TotalTime>
  <Words>1000</Words>
  <Application>Microsoft Office PowerPoint</Application>
  <PresentationFormat>Широкоэкранный</PresentationFormat>
  <Paragraphs>121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Тема1</vt:lpstr>
      <vt:lpstr>Отчет  по практической работе №1 по дисциплине «Технология реверс-инжиниринга»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 по практической работе №1 по дисциплине «Технология реверс-инжиниринга»</dc:title>
  <dc:creator>Герман Блынский</dc:creator>
  <cp:lastModifiedBy>Lomanror Kostin</cp:lastModifiedBy>
  <cp:revision>7</cp:revision>
  <dcterms:created xsi:type="dcterms:W3CDTF">2026-02-12T07:52:00Z</dcterms:created>
  <dcterms:modified xsi:type="dcterms:W3CDTF">2026-02-19T08:24:50Z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0C7623144A524BBCB4D3B5A26DC9D391_12</vt:lpwstr>
  </property>
  <property fmtid="{D5CDD505-2E9C-101B-9397-08002B2CF9AE}" pid="3" name="KSOProductBuildVer">
    <vt:lpwstr>1049-12.2.0.23196</vt:lpwstr>
  </property>
</Properties>
</file>