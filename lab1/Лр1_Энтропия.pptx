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Герман Блынский" initials="ГБ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D652B2-8C6E-419B-8E93-813F678ADC08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6DC3D-C717-495C-B489-C044A339A551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6DC3D-C717-495C-B489-C044A339A55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38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43F6D-F931-4A71-A15D-2B264EF1AB73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5362CE-C055-49FC-B546-755736F22EB5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4ACE1-21D3-431B-BB16-11F730503F41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90E54-7C12-4AA1-97C8-2D329171C2CD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BD5FB-95D5-46AF-A9FF-68F9AE7921F6}" type="datetime1">
              <a:rPr lang="ru-RU" smtClean="0"/>
              <a:t>26.02.2026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050D7-52F7-4420-ADAD-F5D78D8B0ECD}" type="datetime1">
              <a:rPr lang="ru-RU" smtClean="0"/>
              <a:t>26.02.2026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76D4-D711-4CA3-BAFD-0106F3401A9A}" type="datetime1">
              <a:rPr lang="ru-RU" smtClean="0"/>
              <a:t>26.02.2026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B8C9D-6602-42BD-B402-30C2B4239D8F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8DE63-C279-41BA-9104-D9533059161D}" type="datetime1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F3D71-8A8E-4DBA-8033-AAB5462B6CE0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3D6A-3CF2-4553-BAC0-BB06B6F47902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AF765-F399-45DB-B93D-F8E5B81DD6F0}" type="datetime1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71148-F1FE-4D36-8801-91DDAE74A626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476375" y="2028825"/>
            <a:ext cx="9239250" cy="1400175"/>
          </a:xfrm>
        </p:spPr>
        <p:txBody>
          <a:bodyPr>
            <a:no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</a:t>
            </a:r>
            <a:b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практической работе №1</a:t>
            </a:r>
            <a:b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 «Технология реверс-инжиниринга»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010526" y="5372100"/>
            <a:ext cx="4181474" cy="1314450"/>
          </a:xfrm>
        </p:spPr>
        <p:txBody>
          <a:bodyPr>
            <a:normAutofit fontScale="92500"/>
          </a:bodyPr>
          <a:lstStyle/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выполнили: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ст. гр. ТКИ-341 Блынский Г. В.</a:t>
            </a: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ст. гр. ТКИ-341 Костин Р. С.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34472" y="1018923"/>
            <a:ext cx="1048327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1. Сравнение энтропии неупакованного и упакованного файлов</a:t>
            </a:r>
          </a:p>
          <a:p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40872" y="1856508"/>
            <a:ext cx="87468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минимум 3 исполняемых файла, написанных на разных языках программирования (С или С++, С#,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и, желательно, решающих одну и ту же задачу, просмотреть их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-редакторе и построить гистограммы.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помощи программы NIST, Radare2 или другого ПО рассчитать энтропию исходных и упакованных файлов. 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несколько текстовых, табличных, графических и аудио файлов в разных форматах, желательно, имеющих идентичное содержание, просмотреть их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-редакторе и построить гистограммы.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Упаковать выбранные файлы, просмотреть их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-редакторе. 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Полученные результаты представить в виде таблиц. Для каждого файла и типа упаковщика указать размер и энтропию файла, отношение размера и энтропии упакованного файла к аналогичным параметрам неупакованного.</a:t>
            </a:r>
            <a:endParaRPr 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3BE43CF-E12C-4D05-8753-80395165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826" y="1828800"/>
            <a:ext cx="4334121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61825" y="5029200"/>
            <a:ext cx="4334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 – Код программы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2876" y="1515631"/>
            <a:ext cx="6697298" cy="4054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095999" y="5570554"/>
            <a:ext cx="42400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Шестнадцатеричный дамп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(C++)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05C3227-F6EC-464F-B0DE-846B21221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462" y="848796"/>
            <a:ext cx="6751533" cy="5160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071326" y="6191764"/>
            <a:ext cx="5510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 – Дизассемблирование программы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ЯП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014" y="282296"/>
            <a:ext cx="3834354" cy="581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7257974" y="6211969"/>
            <a:ext cx="475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4 – Информация о программе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1C39A5F-ACF0-4719-AC20-F7954B54A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40" y="3222894"/>
            <a:ext cx="8825087" cy="2710289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3919855" y="6057151"/>
            <a:ext cx="4534828" cy="406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Рис. 5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(C++)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</a:t>
            </a:r>
            <a:endParaRPr lang="ru-RU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" name="Текстовое поле 2"/>
          <p:cNvSpPr txBox="1"/>
          <p:nvPr/>
        </p:nvSpPr>
        <p:spPr>
          <a:xfrm>
            <a:off x="4217576" y="2760197"/>
            <a:ext cx="2911977" cy="406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Рис. 6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(C++)</a:t>
            </a:r>
            <a:endParaRPr lang="ru-RU" altLang="en-US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35" y="303265"/>
            <a:ext cx="2505425" cy="240063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241B968-11B4-4DEF-A430-E8329146B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5</a:t>
            </a:fld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491" y="2118012"/>
            <a:ext cx="4412078" cy="275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6519853" y="4957329"/>
            <a:ext cx="407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8 – Код программы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test2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637" y="222321"/>
            <a:ext cx="3470384" cy="5748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838200" y="6001871"/>
            <a:ext cx="4543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7 – Информация о программе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420C4B-B652-463E-A610-AE4CE6A94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6</a:t>
            </a:fld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07" y="1250157"/>
            <a:ext cx="5435003" cy="4357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5075" y="1328738"/>
            <a:ext cx="6225018" cy="4200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94682" y="5750004"/>
            <a:ext cx="4289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8 – Шестнадцатеричный дамп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(C#)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71029" y="5750004"/>
            <a:ext cx="5205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9 – Дизассемблирование программы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7B1BA5B-F6C9-458D-BAEA-DC19FB34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7</a:t>
            </a:fld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046" y="3504294"/>
            <a:ext cx="8649907" cy="263879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304" y="427013"/>
            <a:ext cx="2486372" cy="24387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22179" y="3000357"/>
            <a:ext cx="255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10 – Энтропия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(C#)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21771" y="6277692"/>
            <a:ext cx="4364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11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(C#)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58918B3-DBB4-4056-9994-8BA0451A7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8</a:t>
            </a:fld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7723" y="2631996"/>
            <a:ext cx="3110248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8" y="429705"/>
            <a:ext cx="3505200" cy="5502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432260" y="4384596"/>
            <a:ext cx="384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13 – Код программы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test3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2691" y="6053548"/>
            <a:ext cx="4193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Информация о файле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434C427-188A-40F6-ACF7-DD19EA6D5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700734"/>
            <a:ext cx="5486400" cy="52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500" y="1190625"/>
            <a:ext cx="6018885" cy="4476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18332" y="5987018"/>
            <a:ext cx="4792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14 – Шестнадцатеричный дамп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70216" y="5782100"/>
            <a:ext cx="4507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15 – Дизассемблирование программы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ЯП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980F164-07EE-4E5E-87AA-B2A23BAB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10</a:t>
            </a:fld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994" y="3532292"/>
            <a:ext cx="8688012" cy="261974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761" y="380539"/>
            <a:ext cx="2524477" cy="24577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54688" y="3000646"/>
            <a:ext cx="2944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16 – Энтропия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52389" y="6314347"/>
            <a:ext cx="4757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17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8A3C93-5F6E-4749-9930-61631872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11</a:t>
            </a:fld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485" y="296068"/>
            <a:ext cx="2710432" cy="5548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781485" y="5936312"/>
            <a:ext cx="28422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18 – Информация о упакованном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test1 (C++)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308" y="1102284"/>
            <a:ext cx="7515682" cy="225055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673" y="3874496"/>
            <a:ext cx="2514951" cy="24577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69392" y="3429000"/>
            <a:ext cx="5964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19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85142" y="6346357"/>
            <a:ext cx="5332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20 – Гистограмма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1F0FEA7-E482-4884-8279-C5D364DA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79" y="336817"/>
            <a:ext cx="2576512" cy="5603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19408" y="6033184"/>
            <a:ext cx="37072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21 – Информация о упакованном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681" y="1096771"/>
            <a:ext cx="7426836" cy="225179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205" y="3878764"/>
            <a:ext cx="2524477" cy="24863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38125" y="3397146"/>
            <a:ext cx="6116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68528" y="6376700"/>
            <a:ext cx="3943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12EF920-861E-4727-BF5F-A40B32E40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51" y="381866"/>
            <a:ext cx="2867780" cy="575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40021" y="6152968"/>
            <a:ext cx="3622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23 – Информация о упакованном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test3 (Python)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491" y="1118202"/>
            <a:ext cx="7618936" cy="2310798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9589" y="3950538"/>
            <a:ext cx="2438740" cy="2448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78758" y="3505103"/>
            <a:ext cx="617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24 – Гистограмма распределения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0" y="6429967"/>
            <a:ext cx="48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25 – Энтропия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упакованный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1F045F-0FBB-418C-9643-28D031BC1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14</a:t>
            </a:fld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01" y="1034071"/>
            <a:ext cx="5808122" cy="167953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636" y="3429000"/>
            <a:ext cx="3429019" cy="262756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1561" y="1034071"/>
            <a:ext cx="5823193" cy="167953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8053" y="3454051"/>
            <a:ext cx="3280055" cy="25127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4983" y="2767026"/>
            <a:ext cx="5293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26 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27 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031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28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1561" y="6074506"/>
            <a:ext cx="4978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29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238BDC-1AA8-4F91-8E10-32ECD1D00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15</a:t>
            </a:fld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293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30 – Гистограмма распределения для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31 – Гистограмма распределения для заархивированного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08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32 – Энтропия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02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33 – Энтропия заархивированного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11" y="1060020"/>
            <a:ext cx="5827423" cy="1687858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506" y="3559555"/>
            <a:ext cx="3258005" cy="251495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822" y="1066988"/>
            <a:ext cx="5660667" cy="1658235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8335" y="3559555"/>
            <a:ext cx="3046409" cy="2355283"/>
          </a:xfrm>
          <a:prstGeom prst="rect">
            <a:avLst/>
          </a:prstGeom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215CBB9-1FC9-414F-A98D-CC0F90C8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16</a:t>
            </a:fld>
            <a:endParaRPr lang="ru-R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293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34 – Гистограмма распределения для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35 – Гистограмма распределения для заархивированного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13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36 – Энтропия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080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37 – Энтропия заархивированного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55" y="1056486"/>
            <a:ext cx="5734093" cy="164522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676" y="3698588"/>
            <a:ext cx="3210373" cy="240063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782" y="1106769"/>
            <a:ext cx="5600563" cy="160691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1967" y="3640067"/>
            <a:ext cx="3219899" cy="2448267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509DF9-7D3A-4C6E-8284-9E852F3C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17</a:t>
            </a:fld>
            <a:endParaRPr lang="ru-R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291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08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02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04" y="1022446"/>
            <a:ext cx="6023096" cy="172543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317" y="3626239"/>
            <a:ext cx="3238952" cy="2448267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426" y="1054479"/>
            <a:ext cx="5795459" cy="16933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1269" y="3585382"/>
            <a:ext cx="3238952" cy="2467319"/>
          </a:xfrm>
          <a:prstGeom prst="rect">
            <a:avLst/>
          </a:prstGeom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556EA9F-E859-4ECC-82F3-A735ABE40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18</a:t>
            </a:fld>
            <a:endParaRPr lang="ru-R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406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42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mp3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43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mp3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19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mp3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144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mp3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65" y="1067745"/>
            <a:ext cx="5720272" cy="1650776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592" y="3647840"/>
            <a:ext cx="3229426" cy="241968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32" y="1047134"/>
            <a:ext cx="5720272" cy="169199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4214" y="3571630"/>
            <a:ext cx="3248478" cy="2495898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75BA90-D6B6-4FE8-B549-5DACEE493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19</a:t>
            </a:fld>
            <a:endParaRPr lang="ru-RU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381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17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119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49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65" y="1069846"/>
            <a:ext cx="5734869" cy="1644558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498" y="3654123"/>
            <a:ext cx="3258005" cy="245779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0495" y="1096601"/>
            <a:ext cx="5734869" cy="165058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503" y="3654123"/>
            <a:ext cx="3219899" cy="2419688"/>
          </a:xfrm>
          <a:prstGeom prst="rect">
            <a:avLst/>
          </a:prstGeom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7AC776B-331B-4E45-A827-57C743287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20</a:t>
            </a:fld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381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xlsx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xlsx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17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xlsx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119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xlsx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65" y="1122254"/>
            <a:ext cx="5591935" cy="160361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674" y="3595848"/>
            <a:ext cx="3258005" cy="248637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288" y="1052191"/>
            <a:ext cx="5996447" cy="174373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489" y="3664345"/>
            <a:ext cx="3277057" cy="2410161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799CA4-AF93-4E29-AEBC-8C04DA25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21</a:t>
            </a:fld>
            <a:endParaRPr lang="ru-R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14983" y="2767026"/>
            <a:ext cx="530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54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2273" y="2747878"/>
            <a:ext cx="4501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55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Гистограмма распределения для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9538" y="6164538"/>
            <a:ext cx="309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6050" y="6074506"/>
            <a:ext cx="5042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Энтропия заархивированного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файла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07" y="924218"/>
            <a:ext cx="6026583" cy="174186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50" y="3683397"/>
            <a:ext cx="3296110" cy="2448267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836" y="1069756"/>
            <a:ext cx="5578357" cy="159632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444" y="3683397"/>
            <a:ext cx="3229426" cy="2391109"/>
          </a:xfrm>
          <a:prstGeom prst="rect">
            <a:avLst/>
          </a:prstGeom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243999D-7CBB-420D-8A69-D5FA44ED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22</a:t>
            </a:fld>
            <a:endParaRPr lang="ru-R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5" y="2012315"/>
            <a:ext cx="11675110" cy="28327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86750" y="4991831"/>
            <a:ext cx="39141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Таблица результатов работы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6FDD626-43B7-4168-968C-184ACDDBB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23</a:t>
            </a:fld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овое поле 1"/>
          <p:cNvSpPr txBox="1"/>
          <p:nvPr/>
        </p:nvSpPr>
        <p:spPr>
          <a:xfrm>
            <a:off x="281940" y="444936"/>
            <a:ext cx="11628120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Вывод:</a:t>
            </a:r>
            <a:endParaRPr lang="en-US" alt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alt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1)Исходный код на разных языках программирования: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Исходный код на C++ имеет самую низкую энтропию среди всех исследованных файлов, что указывает на его высокую предсказуемость и структурированность.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Исходный код на 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C# имеет более высокую энтропию, что связано с большей сложностью и разнообразием синтаксиса этих языков.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Текстовые файлы: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Текстовые файлы (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txt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CSV) имеют низкую энтропию, что указывает на их предсказуемость и повторяемость символов.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текстовых файлов значительно увеличивает их энтропию, что связано с добавлением дополнительных данных и сжатием.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Табличные файлы: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Табличные файлы (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xlsx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odt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имеют высокую энтропию, что связано с их сложной структурой и разнообразием данных.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табличных файлов незначительно изменяет их энтропию, что указывает на высокую эффективность сжатия.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4) Изображения: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Изображения (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png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имеют высокую энтропию, что связано с их сложной структурой и большим количеством уникальных данных.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изображений незначительно изменяет их энтропию, что указывает на высокую эффективность сжатия.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FD6194F-63BA-46FB-BF6B-0C401F00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24</a:t>
            </a:fld>
            <a:endParaRPr lang="ru-R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овое поле 1"/>
          <p:cNvSpPr txBox="1"/>
          <p:nvPr/>
        </p:nvSpPr>
        <p:spPr>
          <a:xfrm>
            <a:off x="281940" y="649605"/>
            <a:ext cx="11628120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alt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Вывод:</a:t>
            </a:r>
            <a:endParaRPr lang="en-US" alt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alt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5) Аудио файлы: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Аудио файлы (mp3, </a:t>
            </a:r>
            <a:r>
              <a:rPr lang="ru-RU" alt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wav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имеют высокую энтропию, что связано с их сложной структурой и большим количеством уникальных данных.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аудио файлов незначительно изменяет их энтропию, что указывает на высокую эффективность сжатия.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6) Упаковка файлов: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файлов значительно увеличивает их энтропию, что связано с добавлением дополнительных данных и сжатием.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файлов также уменьшает их размер, что указывает на высокую эффективность сжатия.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7) Отношение размеров и энтропий: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Отношение размеров упакованных и неупакованных файлов показывает, что упаковка значительно уменьшает размер файлов.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Отношение энтропий упакованных и неупакованных файлов показывает, что упаковка значительно увеличивает энтропию файлов.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Заключение: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лабораторной работы были исследованы различные типы файлов и их энтропия. Показано, что упаковка файлов значительно увеличивает их энтропию и уменьшает их размер. Это указывает на высокую эффективность сжатия и возможность использования упаковки для уменьшения размера файлов.</a:t>
            </a:r>
          </a:p>
          <a:p>
            <a:pPr algn="just"/>
            <a:endParaRPr lang="ru-RU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alt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FD6194F-63BA-46FB-BF6B-0C401F00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71148-F1FE-4D36-8801-91DDAE74A626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95550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36</TotalTime>
  <Words>1086</Words>
  <Application>Microsoft Office PowerPoint</Application>
  <PresentationFormat>Широкоэкранный</PresentationFormat>
  <Paragraphs>126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Times New Roman</vt:lpstr>
      <vt:lpstr>Тема1</vt:lpstr>
      <vt:lpstr>Отчет  по практической работе №1 по дисциплине «Технология реверс-инжиниринга»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 по практической работе №1 по дисциплине «Технология реверс-инжиниринга»</dc:title>
  <dc:creator>Герман Блынский</dc:creator>
  <cp:lastModifiedBy>Lomanror Kostin</cp:lastModifiedBy>
  <cp:revision>8</cp:revision>
  <dcterms:created xsi:type="dcterms:W3CDTF">2026-02-12T07:52:00Z</dcterms:created>
  <dcterms:modified xsi:type="dcterms:W3CDTF">2026-02-26T08:38:10Z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0C7623144A524BBCB4D3B5A26DC9D391_12</vt:lpwstr>
  </property>
  <property fmtid="{D5CDD505-2E9C-101B-9397-08002B2CF9AE}" pid="3" name="KSOProductBuildVer">
    <vt:lpwstr>1049-12.2.0.23196</vt:lpwstr>
  </property>
</Properties>
</file>