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7" r:id="rId4"/>
    <p:sldId id="258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A4C6D-359B-4D8C-9DF4-57A48321DE2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4BBBB-DA40-4166-965A-2D4257721A61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800" dirty="0"/>
              <a:t>Отчет по Лабораторной  работе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№3</a:t>
            </a:r>
            <a:endParaRPr lang="ru-RU" sz="4800" dirty="0"/>
          </a:p>
        </p:txBody>
      </p:sp>
      <p:sp>
        <p:nvSpPr>
          <p:cNvPr id="4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Подготовили: Блынский Г. В.,</a:t>
            </a:r>
            <a:endParaRPr lang="ru-RU" sz="2000" dirty="0">
              <a:latin typeface="+mj-lt"/>
              <a:ea typeface="+mj-ea"/>
              <a:cs typeface="+mj-cs"/>
            </a:endParaRP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Костин Р. С. – студенты 3 курса ТКИ-341.</a:t>
            </a:r>
            <a:endParaRPr lang="ru-RU" sz="2000" dirty="0">
              <a:latin typeface="+mj-lt"/>
              <a:ea typeface="+mj-ea"/>
              <a:cs typeface="+mj-cs"/>
            </a:endParaRP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Проверили: Сидоренко Валентина Геннадиевна – проф., доктор технических наук</a:t>
            </a:r>
            <a:endParaRPr lang="ru-RU" sz="2000" dirty="0">
              <a:latin typeface="+mj-lt"/>
              <a:ea typeface="+mj-ea"/>
              <a:cs typeface="+mj-cs"/>
            </a:endParaRP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Сафронов Антон Игоревич – доцент, кандидат технических наук.</a:t>
            </a:r>
            <a:endParaRPr lang="ru-RU" sz="2000" dirty="0">
              <a:latin typeface="+mj-lt"/>
              <a:ea typeface="+mj-ea"/>
              <a:cs typeface="+mj-cs"/>
            </a:endParaRP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 </a:t>
            </a:r>
            <a:endParaRPr lang="ru-RU" sz="20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85969"/>
            <a:ext cx="4048125" cy="1015375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Формулировка задания</a:t>
            </a:r>
            <a:br>
              <a:rPr lang="ru-RU" sz="3200" b="1" dirty="0"/>
            </a:br>
            <a:endParaRPr 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727200" y="2116455"/>
            <a:ext cx="90424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en-US" sz="2000"/>
              <a:t>В качестве исходных данных используем программное обеспечение (ПО) из лабораторной работы "Реверс-инжиниринг ПО, созданного на языке программирования С и С++", конвертированное на язык программирования С# с языка программирования С++ с использованием средств конвертации программного кода</a:t>
            </a:r>
            <a:r>
              <a:rPr lang="ru-RU" altLang="en-US" sz="2000"/>
              <a:t>.</a:t>
            </a:r>
            <a:endParaRPr lang="ru-RU" altLang="en-US" sz="2000"/>
          </a:p>
          <a:p>
            <a:pPr indent="457200"/>
            <a:endParaRPr lang="ru-RU" altLang="en-US" sz="2000"/>
          </a:p>
          <a:p>
            <a:pPr indent="457200"/>
            <a:r>
              <a:rPr lang="en-US" altLang="en-US" sz="2000"/>
              <a:t>Для реверс-инжиниринга используем инструменты </a:t>
            </a:r>
            <a:r>
              <a:rPr lang="en-US" altLang="ru-RU" sz="2000"/>
              <a:t>ILSpy </a:t>
            </a:r>
            <a:r>
              <a:rPr lang="en-US" altLang="en-US" sz="2000"/>
              <a:t>и .</a:t>
            </a:r>
            <a:r>
              <a:rPr lang="en-US" altLang="ru-RU" sz="2000"/>
              <a:t>NET Reflector. </a:t>
            </a:r>
            <a:r>
              <a:rPr lang="en-US" altLang="en-US" sz="2000"/>
              <a:t>Проводим анализ и сравнение результатов, полученных в ходе конвертации ПО и его реверс-инжиниринга с использованием различных средств</a:t>
            </a: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85969"/>
            <a:ext cx="4048125" cy="1015375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ПО на языке программирования С</a:t>
            </a:r>
            <a:r>
              <a:rPr lang="en-US" sz="3200" b="1" dirty="0"/>
              <a:t>++</a:t>
            </a:r>
            <a:endParaRPr 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764246" y="5323031"/>
            <a:ext cx="4663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Рис. 1 - Код нашей программы на языке С++.</a:t>
            </a:r>
            <a:endParaRPr lang="ru-RU" dirty="0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0245" y="2109470"/>
            <a:ext cx="5731510" cy="32143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5086350" cy="962025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ПО на ЯП С</a:t>
            </a:r>
            <a:r>
              <a:rPr lang="en-US" sz="3200" b="1" dirty="0"/>
              <a:t>#</a:t>
            </a:r>
            <a:r>
              <a:rPr lang="ru-RU" sz="3200" b="1" dirty="0"/>
              <a:t>, переведенное с помощью </a:t>
            </a:r>
            <a:r>
              <a:rPr lang="en-US" sz="3200" b="1" dirty="0" err="1"/>
              <a:t>Deepseek</a:t>
            </a:r>
            <a:endParaRPr 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894421" y="4955366"/>
            <a:ext cx="46635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2</a:t>
            </a:r>
            <a:r>
              <a:rPr lang="ru-RU" dirty="0"/>
              <a:t> - Код нашей программы на языке</a:t>
            </a:r>
            <a:r>
              <a:rPr lang="en-US" altLang="ru-RU" dirty="0"/>
              <a:t> </a:t>
            </a:r>
            <a:r>
              <a:rPr lang="ru-RU" altLang="ru-RU" dirty="0"/>
              <a:t>программирования</a:t>
            </a:r>
            <a:r>
              <a:rPr lang="ru-RU" dirty="0"/>
              <a:t> С</a:t>
            </a:r>
            <a:r>
              <a:rPr lang="en-US" dirty="0"/>
              <a:t>#</a:t>
            </a:r>
            <a:r>
              <a:rPr lang="ru-RU" dirty="0"/>
              <a:t>.</a:t>
            </a:r>
            <a:endParaRPr lang="ru-RU" dirty="0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3300" y="1546225"/>
            <a:ext cx="5365750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73355" y="105410"/>
            <a:ext cx="4713605" cy="626745"/>
          </a:xfrm>
        </p:spPr>
        <p:txBody>
          <a:bodyPr>
            <a:normAutofit/>
          </a:bodyPr>
          <a:lstStyle/>
          <a:p>
            <a:r>
              <a:rPr lang="ru-RU" sz="3200" b="1" dirty="0"/>
              <a:t>Псевдокод</a:t>
            </a:r>
            <a:r>
              <a:rPr lang="en-US" sz="3200" b="1" dirty="0"/>
              <a:t> </a:t>
            </a:r>
            <a:r>
              <a:rPr lang="ru-RU" sz="3200" b="1" dirty="0"/>
              <a:t>в </a:t>
            </a:r>
            <a:r>
              <a:rPr lang="en-US" sz="3200" b="1" dirty="0"/>
              <a:t>ILSpy</a:t>
            </a:r>
            <a:endParaRPr lang="en-US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894421" y="4804236"/>
            <a:ext cx="46635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3 - Декомпилрованный код программы</a:t>
            </a:r>
            <a:endParaRPr lang="ru-RU" dirty="0"/>
          </a:p>
          <a:p>
            <a:pPr algn="ctr"/>
            <a:r>
              <a:rPr lang="ru-RU" altLang="en-US" dirty="0"/>
              <a:t>в </a:t>
            </a:r>
            <a:r>
              <a:rPr lang="en-US" altLang="en-US" dirty="0"/>
              <a:t>ILSpy</a:t>
            </a:r>
            <a:endParaRPr lang="en-US" altLang="en-US" dirty="0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3709035" y="2053590"/>
            <a:ext cx="5034280" cy="2750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97180"/>
            <a:ext cx="4713605" cy="626745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Дизассемблированный код в </a:t>
            </a:r>
            <a:r>
              <a:rPr lang="en-US" sz="3200" b="1" dirty="0"/>
              <a:t>ILSpy</a:t>
            </a:r>
            <a:endParaRPr lang="en-US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291556" y="3319606"/>
            <a:ext cx="46635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4 - Дизассемблированный код программы</a:t>
            </a:r>
            <a:r>
              <a:rPr lang="en-US" altLang="ru-RU" dirty="0"/>
              <a:t> </a:t>
            </a:r>
            <a:r>
              <a:rPr lang="ru-RU" altLang="ru-RU" dirty="0"/>
              <a:t>в </a:t>
            </a:r>
            <a:r>
              <a:rPr lang="en-US" altLang="ru-RU" dirty="0"/>
              <a:t>ILSpy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5955030" y="25400"/>
            <a:ext cx="3579495" cy="6696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73355" y="105410"/>
            <a:ext cx="4713605" cy="626745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Псевдокод в </a:t>
            </a:r>
            <a:r>
              <a:rPr lang="en-US" altLang="ru-RU" sz="3200" b="1" dirty="0"/>
              <a:t>.NET Reflector</a:t>
            </a:r>
            <a:endParaRPr lang="en-US" alt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764246" y="5072206"/>
            <a:ext cx="46635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5</a:t>
            </a:r>
            <a:r>
              <a:rPr lang="ru-RU" dirty="0"/>
              <a:t> - Декомпилрованный код программы</a:t>
            </a:r>
            <a:r>
              <a:rPr lang="en-US" altLang="ru-RU" dirty="0"/>
              <a:t> </a:t>
            </a:r>
            <a:r>
              <a:rPr lang="ru-RU" altLang="ru-RU" dirty="0"/>
              <a:t>в </a:t>
            </a:r>
            <a:r>
              <a:rPr lang="en-US" altLang="ru-RU" dirty="0"/>
              <a:t>.NET Reflector</a:t>
            </a:r>
            <a:endParaRPr lang="en-US" altLang="ru-RU" dirty="0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4810" y="1821180"/>
            <a:ext cx="3945890" cy="2983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73355" y="105410"/>
            <a:ext cx="4713605" cy="626745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Псевдокод в </a:t>
            </a:r>
            <a:r>
              <a:rPr lang="en-US" altLang="ru-RU" sz="3200" b="1" dirty="0"/>
              <a:t>.NET Reflector</a:t>
            </a:r>
            <a:endParaRPr lang="en-US" alt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4118576" y="6111701"/>
            <a:ext cx="46635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6</a:t>
            </a:r>
            <a:r>
              <a:rPr lang="ru-RU" dirty="0"/>
              <a:t> - Декомпилрованный код программы</a:t>
            </a:r>
            <a:r>
              <a:rPr lang="en-US" altLang="ru-RU" dirty="0"/>
              <a:t> </a:t>
            </a:r>
            <a:r>
              <a:rPr lang="ru-RU" altLang="ru-RU" dirty="0"/>
              <a:t>в </a:t>
            </a:r>
            <a:r>
              <a:rPr lang="en-US" altLang="ru-RU" dirty="0"/>
              <a:t>.NET Reflector</a:t>
            </a:r>
            <a:endParaRPr lang="en-US" altLang="ru-RU" dirty="0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9155" y="0"/>
            <a:ext cx="3561715" cy="6111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73355" y="327025"/>
            <a:ext cx="4713605" cy="626745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Информация о файле</a:t>
            </a:r>
            <a:br>
              <a:rPr lang="ru-RU" sz="3200" b="1" dirty="0"/>
            </a:br>
            <a:r>
              <a:rPr lang="ru-RU" sz="3200" b="1" dirty="0"/>
              <a:t>на ЯП С</a:t>
            </a:r>
            <a:r>
              <a:rPr lang="en-US" sz="3200" b="1" dirty="0"/>
              <a:t>#</a:t>
            </a:r>
            <a:endParaRPr lang="en-US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4118576" y="6111701"/>
            <a:ext cx="46635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7</a:t>
            </a:r>
            <a:r>
              <a:rPr lang="ru-RU" dirty="0"/>
              <a:t> - Информация о файле, полученаня с помощью </a:t>
            </a:r>
            <a:r>
              <a:rPr lang="en-US" dirty="0"/>
              <a:t>Radare2</a:t>
            </a:r>
            <a:endParaRPr lang="en-US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3009900" y="953770"/>
            <a:ext cx="61722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202565" y="327025"/>
            <a:ext cx="4713605" cy="626745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Шестнадцатиричный код </a:t>
            </a:r>
            <a:br>
              <a:rPr lang="ru-RU" sz="3200" b="1" dirty="0"/>
            </a:br>
            <a:r>
              <a:rPr lang="ru-RU" sz="3200" b="1" dirty="0"/>
              <a:t>в </a:t>
            </a:r>
            <a:r>
              <a:rPr lang="en-US" sz="3200" b="1" dirty="0"/>
              <a:t>hex </a:t>
            </a:r>
            <a:r>
              <a:rPr lang="ru-RU" sz="3200" b="1" dirty="0"/>
              <a:t>редакторе</a:t>
            </a:r>
            <a:endParaRPr 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764246" y="5466541"/>
            <a:ext cx="466350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8</a:t>
            </a:r>
            <a:r>
              <a:rPr lang="ru-RU" dirty="0"/>
              <a:t> - </a:t>
            </a:r>
            <a:r>
              <a:rPr lang="en-US" dirty="0"/>
              <a:t>hex </a:t>
            </a:r>
            <a:r>
              <a:rPr lang="ru-RU" dirty="0"/>
              <a:t>дамп</a:t>
            </a:r>
            <a:endParaRPr lang="ru-RU" dirty="0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1710055" y="2635885"/>
            <a:ext cx="8639175" cy="2814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3355" y="664845"/>
            <a:ext cx="4713605" cy="626745"/>
          </a:xfrm>
        </p:spPr>
        <p:txBody>
          <a:bodyPr>
            <a:normAutofit fontScale="90000"/>
          </a:bodyPr>
          <a:lstStyle/>
          <a:p>
            <a:pPr algn="l"/>
            <a:r>
              <a:rPr lang="ru-RU" sz="3200" b="1" dirty="0"/>
              <a:t>Сравнение изначального кода и декомпелирования в </a:t>
            </a:r>
            <a:r>
              <a:rPr lang="en-US" sz="3200" b="1" dirty="0"/>
              <a:t>ILSpy </a:t>
            </a:r>
            <a:r>
              <a:rPr lang="ru-RU" sz="3200" b="1" dirty="0"/>
              <a:t>и </a:t>
            </a:r>
            <a:r>
              <a:rPr lang="en-US" sz="3200" b="1" dirty="0"/>
              <a:t>.NET Reflector</a:t>
            </a:r>
            <a:endParaRPr lang="en-US" alt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-116874" y="4809316"/>
            <a:ext cx="466350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9</a:t>
            </a:r>
            <a:r>
              <a:rPr lang="ru-RU" dirty="0"/>
              <a:t> - Изначальный  код на </a:t>
            </a:r>
            <a:r>
              <a:rPr lang="en-US" dirty="0"/>
              <a:t>C#</a:t>
            </a:r>
            <a:endParaRPr lang="en-US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4436745" y="2275205"/>
            <a:ext cx="3999865" cy="219583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1937385"/>
            <a:ext cx="3350895" cy="253365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0" y="2275205"/>
            <a:ext cx="3888105" cy="2415540"/>
          </a:xfrm>
          <a:prstGeom prst="rect">
            <a:avLst/>
          </a:prstGeom>
        </p:spPr>
      </p:pic>
      <p:sp>
        <p:nvSpPr>
          <p:cNvPr id="9" name="TextBox 7"/>
          <p:cNvSpPr txBox="1"/>
          <p:nvPr/>
        </p:nvSpPr>
        <p:spPr>
          <a:xfrm>
            <a:off x="3947126" y="4690571"/>
            <a:ext cx="46635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10</a:t>
            </a:r>
            <a:r>
              <a:rPr lang="ru-RU" dirty="0"/>
              <a:t> - Декомпелирование</a:t>
            </a:r>
            <a:br>
              <a:rPr lang="ru-RU" dirty="0"/>
            </a:br>
            <a:r>
              <a:rPr lang="ru-RU" dirty="0"/>
              <a:t>с помощью </a:t>
            </a:r>
            <a:r>
              <a:rPr lang="en-US" dirty="0"/>
              <a:t>ILSpy</a:t>
            </a:r>
            <a:endParaRPr lang="en-US" dirty="0"/>
          </a:p>
        </p:txBody>
      </p:sp>
      <p:sp>
        <p:nvSpPr>
          <p:cNvPr id="10" name="TextBox 7"/>
          <p:cNvSpPr txBox="1"/>
          <p:nvPr/>
        </p:nvSpPr>
        <p:spPr>
          <a:xfrm>
            <a:off x="7954611" y="4690571"/>
            <a:ext cx="466350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11</a:t>
            </a:r>
            <a:r>
              <a:rPr lang="ru-RU" dirty="0"/>
              <a:t> - Декомпелирование</a:t>
            </a:r>
            <a:br>
              <a:rPr lang="ru-RU" dirty="0"/>
            </a:br>
            <a:r>
              <a:rPr lang="ru-RU" dirty="0"/>
              <a:t>с помощью </a:t>
            </a:r>
            <a:r>
              <a:rPr lang="en-US" altLang="ru-RU" dirty="0"/>
              <a:t>.NET Reflector</a:t>
            </a:r>
            <a:endParaRPr lang="en-US" alt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9020175" y="3773170"/>
            <a:ext cx="1609090" cy="37338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>
              <a:ln>
                <a:solidFill>
                  <a:srgbClr val="FF0000"/>
                </a:solidFill>
              </a:ln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351584" y="14650"/>
            <a:ext cx="7772400" cy="1470025"/>
          </a:xfrm>
        </p:spPr>
        <p:txBody>
          <a:bodyPr/>
          <a:lstStyle/>
          <a:p>
            <a:r>
              <a:rPr lang="ru-RU" dirty="0" smtClean="0"/>
              <a:t>Вывод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59685" y="1484630"/>
            <a:ext cx="7470140" cy="500888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ru-RU" sz="2800" dirty="0">
                <a:solidFill>
                  <a:schemeClr val="tx1"/>
                </a:solidFill>
              </a:rPr>
              <a:t>В ходе работы выполнено:</a:t>
            </a:r>
            <a:endParaRPr lang="ru-RU" sz="2800" dirty="0">
              <a:solidFill>
                <a:schemeClr val="tx1"/>
              </a:solidFill>
            </a:endParaRPr>
          </a:p>
          <a:p>
            <a:pPr algn="l"/>
            <a:r>
              <a:rPr lang="ru-RU" sz="2800" dirty="0">
                <a:solidFill>
                  <a:schemeClr val="tx1"/>
                </a:solidFill>
              </a:rPr>
              <a:t>- Конвертация кода на ЯП C++ в ЯП C#: достигнута после </a:t>
            </a:r>
            <a:r>
              <a:rPr lang="ru-RU" sz="2800" dirty="0" smtClean="0">
                <a:solidFill>
                  <a:schemeClr val="tx1"/>
                </a:solidFill>
              </a:rPr>
              <a:t>1 итерации</a:t>
            </a:r>
            <a:r>
              <a:rPr lang="en-US" sz="2800" dirty="0" smtClean="0">
                <a:solidFill>
                  <a:schemeClr val="tx1"/>
                </a:solidFill>
              </a:rPr>
              <a:t>;</a:t>
            </a:r>
            <a:endParaRPr lang="ru-RU" sz="2800" dirty="0">
              <a:solidFill>
                <a:schemeClr val="tx1"/>
              </a:solidFill>
            </a:endParaRPr>
          </a:p>
          <a:p>
            <a:pPr algn="l"/>
            <a:r>
              <a:rPr lang="ru-RU" sz="2800" dirty="0">
                <a:solidFill>
                  <a:schemeClr val="tx1"/>
                </a:solidFill>
              </a:rPr>
              <a:t>- </a:t>
            </a:r>
            <a:r>
              <a:rPr lang="ru-RU" sz="2800" dirty="0" err="1">
                <a:solidFill>
                  <a:schemeClr val="tx1"/>
                </a:solidFill>
              </a:rPr>
              <a:t>ILSpy</a:t>
            </a:r>
            <a:r>
              <a:rPr lang="ru-RU" sz="2800" dirty="0">
                <a:solidFill>
                  <a:schemeClr val="tx1"/>
                </a:solidFill>
              </a:rPr>
              <a:t> и .NET </a:t>
            </a:r>
            <a:r>
              <a:rPr lang="ru-RU" sz="2800" dirty="0" err="1">
                <a:solidFill>
                  <a:schemeClr val="tx1"/>
                </a:solidFill>
              </a:rPr>
              <a:t>Reflector</a:t>
            </a:r>
            <a:r>
              <a:rPr lang="ru-RU" sz="2800" dirty="0">
                <a:solidFill>
                  <a:schemeClr val="tx1"/>
                </a:solidFill>
              </a:rPr>
              <a:t> восстановили </a:t>
            </a:r>
            <a:r>
              <a:rPr lang="ru-RU" sz="2800" dirty="0" smtClean="0">
                <a:solidFill>
                  <a:schemeClr val="tx1"/>
                </a:solidFill>
              </a:rPr>
              <a:t>IL-код </a:t>
            </a:r>
            <a:r>
              <a:rPr lang="ru-RU" sz="2800" dirty="0">
                <a:solidFill>
                  <a:schemeClr val="tx1"/>
                </a:solidFill>
              </a:rPr>
              <a:t>и псевдокод</a:t>
            </a:r>
            <a:r>
              <a:rPr lang="ru-RU" sz="2800" dirty="0" smtClean="0">
                <a:solidFill>
                  <a:schemeClr val="tx1"/>
                </a:solidFill>
              </a:rPr>
              <a:t>;</a:t>
            </a:r>
            <a:endParaRPr lang="ru-RU" sz="2800" dirty="0">
              <a:solidFill>
                <a:schemeClr val="tx1"/>
              </a:solidFill>
            </a:endParaRPr>
          </a:p>
          <a:p>
            <a:pPr algn="l"/>
            <a:r>
              <a:rPr lang="ru-RU" sz="2800" dirty="0">
                <a:solidFill>
                  <a:schemeClr val="tx1"/>
                </a:solidFill>
              </a:rPr>
              <a:t>- В </a:t>
            </a:r>
            <a:r>
              <a:rPr lang="ru-RU" sz="2800" dirty="0" err="1">
                <a:solidFill>
                  <a:schemeClr val="tx1"/>
                </a:solidFill>
              </a:rPr>
              <a:t>hex</a:t>
            </a:r>
            <a:r>
              <a:rPr lang="ru-RU" sz="2800" dirty="0">
                <a:solidFill>
                  <a:schemeClr val="tx1"/>
                </a:solidFill>
              </a:rPr>
              <a:t>-редакторе в </a:t>
            </a:r>
            <a:r>
              <a:rPr lang="en-US" sz="2800" dirty="0">
                <a:solidFill>
                  <a:schemeClr val="tx1"/>
                </a:solidFill>
              </a:rPr>
              <a:t>Radare2 </a:t>
            </a:r>
            <a:r>
              <a:rPr lang="ru-RU" sz="2800" dirty="0">
                <a:solidFill>
                  <a:schemeClr val="tx1"/>
                </a:solidFill>
              </a:rPr>
              <a:t>был определен фрагмент с двоичным </a:t>
            </a:r>
            <a:r>
              <a:rPr lang="ru-RU" sz="2800" dirty="0" smtClean="0">
                <a:solidFill>
                  <a:schemeClr val="tx1"/>
                </a:solidFill>
              </a:rPr>
              <a:t>кодом и информация о файле; </a:t>
            </a:r>
            <a:endParaRPr lang="ru-RU" sz="2800" dirty="0">
              <a:solidFill>
                <a:schemeClr val="tx1"/>
              </a:solidFill>
            </a:endParaRPr>
          </a:p>
          <a:p>
            <a:pPr algn="l"/>
            <a:r>
              <a:rPr lang="ru-RU" sz="2800" dirty="0" smtClean="0">
                <a:solidFill>
                  <a:schemeClr val="tx1"/>
                </a:solidFill>
              </a:rPr>
              <a:t>- Энтропия </a:t>
            </a:r>
            <a:r>
              <a:rPr lang="ru-RU" sz="2800" dirty="0">
                <a:solidFill>
                  <a:schemeClr val="tx1"/>
                </a:solidFill>
              </a:rPr>
              <a:t>= 6,07762012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  <a:r>
              <a:rPr lang="ru-RU" altLang="en-US" sz="2800" dirty="0">
                <a:solidFill>
                  <a:schemeClr val="tx1"/>
                </a:solidFill>
              </a:rPr>
              <a:t>Это можно объяснить тем что файлы С</a:t>
            </a:r>
            <a:r>
              <a:rPr lang="en-US" altLang="en-US" sz="2800" dirty="0">
                <a:solidFill>
                  <a:schemeClr val="tx1"/>
                </a:solidFill>
              </a:rPr>
              <a:t>#</a:t>
            </a:r>
            <a:r>
              <a:rPr lang="ru-RU" altLang="en-US" sz="2800" dirty="0">
                <a:solidFill>
                  <a:schemeClr val="tx1"/>
                </a:solidFill>
              </a:rPr>
              <a:t> компилируются в промежуточный код  (</a:t>
            </a:r>
            <a:r>
              <a:rPr lang="en-US" altLang="en-US" sz="2800" dirty="0">
                <a:solidFill>
                  <a:schemeClr val="tx1"/>
                </a:solidFill>
              </a:rPr>
              <a:t>IL</a:t>
            </a:r>
            <a:r>
              <a:rPr lang="ru-RU" altLang="en-US" sz="2800" dirty="0">
                <a:solidFill>
                  <a:schemeClr val="tx1"/>
                </a:solidFill>
              </a:rPr>
              <a:t> код) - </a:t>
            </a:r>
            <a:r>
              <a:rPr lang="en-US" altLang="en-US" sz="2800" dirty="0" smtClean="0">
                <a:solidFill>
                  <a:schemeClr val="tx1"/>
                </a:solidFill>
              </a:rPr>
              <a:t>низкоуровневый</a:t>
            </a:r>
            <a:r>
              <a:rPr lang="en-US" altLang="ru-RU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байт</a:t>
            </a:r>
            <a:r>
              <a:rPr lang="ru-RU" altLang="en-US" sz="2800" dirty="0" smtClean="0">
                <a:solidFill>
                  <a:schemeClr val="tx1"/>
                </a:solidFill>
              </a:rPr>
              <a:t>-</a:t>
            </a:r>
            <a:r>
              <a:rPr lang="en-US" altLang="en-US" sz="2800" dirty="0" smtClean="0">
                <a:solidFill>
                  <a:schemeClr val="tx1"/>
                </a:solidFill>
              </a:rPr>
              <a:t>код</a:t>
            </a:r>
            <a:r>
              <a:rPr lang="ru-RU" altLang="en-US" sz="2800" dirty="0" smtClean="0">
                <a:solidFill>
                  <a:schemeClr val="tx1"/>
                </a:solidFill>
              </a:rPr>
              <a:t>, который </a:t>
            </a:r>
            <a:r>
              <a:rPr lang="en-US" altLang="en-US" sz="2800" dirty="0" smtClean="0">
                <a:solidFill>
                  <a:schemeClr val="tx1"/>
                </a:solidFill>
              </a:rPr>
              <a:t>содержит</a:t>
            </a:r>
            <a:r>
              <a:rPr lang="en-US" altLang="ru-RU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полные</a:t>
            </a:r>
            <a:r>
              <a:rPr lang="en-US" altLang="ru-RU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метаданные</a:t>
            </a:r>
            <a:r>
              <a:rPr lang="en-US" altLang="ru-RU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обо</a:t>
            </a:r>
            <a:r>
              <a:rPr lang="en-US" altLang="ru-RU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всех</a:t>
            </a:r>
            <a:r>
              <a:rPr lang="en-US" altLang="ru-RU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типах</a:t>
            </a:r>
            <a:r>
              <a:rPr lang="en-US" altLang="ru-RU" sz="2800" dirty="0" smtClean="0">
                <a:solidFill>
                  <a:schemeClr val="tx1"/>
                </a:solidFill>
              </a:rPr>
              <a:t>, </a:t>
            </a:r>
            <a:r>
              <a:rPr lang="en-US" altLang="en-US" sz="2800" dirty="0" smtClean="0">
                <a:solidFill>
                  <a:schemeClr val="tx1"/>
                </a:solidFill>
              </a:rPr>
              <a:t>методах</a:t>
            </a:r>
            <a:r>
              <a:rPr lang="en-US" altLang="ru-RU" sz="2800" dirty="0" smtClean="0">
                <a:solidFill>
                  <a:schemeClr val="tx1"/>
                </a:solidFill>
              </a:rPr>
              <a:t>, </a:t>
            </a:r>
            <a:r>
              <a:rPr lang="en-US" altLang="en-US" sz="2800" dirty="0" smtClean="0">
                <a:solidFill>
                  <a:schemeClr val="tx1"/>
                </a:solidFill>
              </a:rPr>
              <a:t>полях</a:t>
            </a:r>
            <a:r>
              <a:rPr lang="en-US" altLang="ru-RU" sz="2800" dirty="0" smtClean="0">
                <a:solidFill>
                  <a:schemeClr val="tx1"/>
                </a:solidFill>
              </a:rPr>
              <a:t>, </a:t>
            </a:r>
            <a:r>
              <a:rPr lang="en-US" altLang="en-US" sz="2800" dirty="0" smtClean="0">
                <a:solidFill>
                  <a:schemeClr val="tx1"/>
                </a:solidFill>
              </a:rPr>
              <a:t>атрибутах</a:t>
            </a:r>
            <a:r>
              <a:rPr lang="ru-RU" altLang="en-US" sz="2800" dirty="0" smtClean="0">
                <a:solidFill>
                  <a:schemeClr val="tx1"/>
                </a:solidFill>
              </a:rPr>
              <a:t>. </a:t>
            </a:r>
            <a:endParaRPr lang="en-US" altLang="en-US" sz="2800" dirty="0" smtClean="0">
              <a:solidFill>
                <a:schemeClr val="tx1"/>
              </a:solidFill>
            </a:endParaRPr>
          </a:p>
          <a:p>
            <a:pPr algn="l"/>
            <a:r>
              <a:rPr lang="en-US" altLang="ru-RU" sz="2800" dirty="0" smtClean="0">
                <a:solidFill>
                  <a:schemeClr val="tx1"/>
                </a:solidFill>
              </a:rPr>
              <a:t>- </a:t>
            </a:r>
            <a:r>
              <a:rPr lang="ru-RU" altLang="ru-RU" sz="2800" dirty="0" smtClean="0">
                <a:solidFill>
                  <a:schemeClr val="tx1"/>
                </a:solidFill>
              </a:rPr>
              <a:t>К</a:t>
            </a:r>
            <a:r>
              <a:rPr lang="ru-RU" sz="2800" dirty="0" smtClean="0">
                <a:solidFill>
                  <a:schemeClr val="tx1"/>
                </a:solidFill>
              </a:rPr>
              <a:t>оличество </a:t>
            </a:r>
            <a:r>
              <a:rPr lang="ru-RU" sz="2800" dirty="0">
                <a:solidFill>
                  <a:schemeClr val="tx1"/>
                </a:solidFill>
              </a:rPr>
              <a:t>строк в </a:t>
            </a:r>
            <a:r>
              <a:rPr lang="ru-RU" sz="2800" dirty="0" err="1">
                <a:solidFill>
                  <a:schemeClr val="tx1"/>
                </a:solidFill>
              </a:rPr>
              <a:t>декомпилированном</a:t>
            </a:r>
            <a:r>
              <a:rPr lang="ru-RU" sz="2800" dirty="0">
                <a:solidFill>
                  <a:schemeClr val="tx1"/>
                </a:solidFill>
              </a:rPr>
              <a:t> коде: 8 строк в </a:t>
            </a:r>
            <a:r>
              <a:rPr lang="en-US" sz="2800" dirty="0">
                <a:solidFill>
                  <a:schemeClr val="tx1"/>
                </a:solidFill>
              </a:rPr>
              <a:t>ILSpy</a:t>
            </a:r>
            <a:r>
              <a:rPr lang="ru-RU" sz="2800" dirty="0">
                <a:solidFill>
                  <a:schemeClr val="tx1"/>
                </a:solidFill>
              </a:rPr>
              <a:t> и </a:t>
            </a:r>
            <a:r>
              <a:rPr lang="en-US" altLang="ru-RU" sz="2800" dirty="0">
                <a:solidFill>
                  <a:schemeClr val="tx1"/>
                </a:solidFill>
              </a:rPr>
              <a:t>6 </a:t>
            </a:r>
            <a:r>
              <a:rPr lang="ru-RU" altLang="ru-RU" sz="2800" dirty="0">
                <a:solidFill>
                  <a:schemeClr val="tx1"/>
                </a:solidFill>
              </a:rPr>
              <a:t>в </a:t>
            </a:r>
            <a:r>
              <a:rPr lang="en-US" altLang="ru-RU" sz="2800" dirty="0">
                <a:solidFill>
                  <a:schemeClr val="tx1"/>
                </a:solidFill>
              </a:rPr>
              <a:t>.NET Reflector;</a:t>
            </a:r>
            <a:endParaRPr lang="ru-RU" sz="2800" dirty="0" smtClean="0">
              <a:solidFill>
                <a:schemeClr val="tx1"/>
              </a:solidFill>
            </a:endParaRPr>
          </a:p>
          <a:p>
            <a:pPr algn="l"/>
            <a:r>
              <a:rPr lang="en-US" altLang="ru-RU" sz="2800" dirty="0" smtClean="0">
                <a:solidFill>
                  <a:schemeClr val="tx1"/>
                </a:solidFill>
              </a:rPr>
              <a:t>- </a:t>
            </a:r>
            <a:r>
              <a:rPr lang="ru-RU" altLang="ru-RU" sz="2800" dirty="0" smtClean="0">
                <a:solidFill>
                  <a:schemeClr val="tx1"/>
                </a:solidFill>
              </a:rPr>
              <a:t>Было произведено сравнение изначального кода на </a:t>
            </a:r>
            <a:r>
              <a:rPr lang="en-US" altLang="ru-RU" sz="2800" dirty="0" smtClean="0">
                <a:solidFill>
                  <a:schemeClr val="tx1"/>
                </a:solidFill>
              </a:rPr>
              <a:t>C#</a:t>
            </a:r>
            <a:r>
              <a:rPr lang="ru-RU" altLang="ru-RU" sz="2800" dirty="0" smtClean="0">
                <a:solidFill>
                  <a:schemeClr val="tx1"/>
                </a:solidFill>
              </a:rPr>
              <a:t> с декомпелированным кодом в </a:t>
            </a:r>
            <a:r>
              <a:rPr lang="en-US" altLang="ru-RU" sz="2800" dirty="0" smtClean="0">
                <a:solidFill>
                  <a:schemeClr val="tx1"/>
                </a:solidFill>
              </a:rPr>
              <a:t>ILSpy </a:t>
            </a:r>
            <a:r>
              <a:rPr lang="ru-RU" altLang="ru-RU" sz="2800" dirty="0" smtClean="0">
                <a:solidFill>
                  <a:schemeClr val="tx1"/>
                </a:solidFill>
              </a:rPr>
              <a:t>и </a:t>
            </a:r>
            <a:r>
              <a:rPr lang="en-US" altLang="ru-RU" sz="2800" dirty="0" smtClean="0">
                <a:solidFill>
                  <a:schemeClr val="tx1"/>
                </a:solidFill>
              </a:rPr>
              <a:t>.NET Refclector.</a:t>
            </a:r>
            <a:endParaRPr lang="ru-RU" sz="2800" dirty="0" smtClean="0">
              <a:solidFill>
                <a:schemeClr val="tx1"/>
              </a:solidFill>
            </a:endParaRPr>
          </a:p>
          <a:p>
            <a:pPr algn="l"/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2218</Words>
  <Application>WPS Presentation</Application>
  <PresentationFormat>Широкоэкранный</PresentationFormat>
  <Paragraphs>88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Calibri Light</vt:lpstr>
      <vt:lpstr>Microsoft YaHei</vt:lpstr>
      <vt:lpstr>Arial Unicode MS</vt:lpstr>
      <vt:lpstr>Calibri</vt:lpstr>
      <vt:lpstr>Тема Office</vt:lpstr>
      <vt:lpstr>1_Тема Office</vt:lpstr>
      <vt:lpstr>Отчет по Лабораторной  работе №3</vt:lpstr>
      <vt:lpstr>ПО на языке программирования С++</vt:lpstr>
      <vt:lpstr>ПО на языке программирования С++</vt:lpstr>
      <vt:lpstr>ПО на ЯП С#, переведенное с помощью Deepseek</vt:lpstr>
      <vt:lpstr>Псевдокод в ILSpy</vt:lpstr>
      <vt:lpstr>Дизассемблированный код в ILSpy</vt:lpstr>
      <vt:lpstr>Псевдокод в .NET Reflector</vt:lpstr>
      <vt:lpstr>Псевдокод в .NET Reflector</vt:lpstr>
      <vt:lpstr>Информация о файле на ЯП С#</vt:lpstr>
      <vt:lpstr>Шестнадцатиричный код  в hex редакторе</vt:lpstr>
      <vt:lpstr>Сравнение изначального кода и декомпелирования в ILSpy и .NET Reflector</vt:lpstr>
      <vt:lpstr>Вывод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Герман Блынский</dc:creator>
  <cp:lastModifiedBy>Герман Блынский</cp:lastModifiedBy>
  <cp:revision>6</cp:revision>
  <dcterms:created xsi:type="dcterms:W3CDTF">2026-04-15T16:09:00Z</dcterms:created>
  <dcterms:modified xsi:type="dcterms:W3CDTF">2026-05-18T16:15:22Z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436A57D6F9B94BE0A3AA57DE6850A1EE_12</vt:lpwstr>
  </property>
  <property fmtid="{D5CDD505-2E9C-101B-9397-08002B2CF9AE}" pid="3" name="KSOProductBuildVer">
    <vt:lpwstr>1049-12.1.0.26372</vt:lpwstr>
  </property>
</Properties>
</file>