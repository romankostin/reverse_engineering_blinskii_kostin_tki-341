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7716B-B27F-46DE-81EC-7CD9198C2D6B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6799B-ABF3-455E-A99D-7972376D5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21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225C3-41F1-394B-E542-72CD3AEEF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BA01EB-2CE1-1254-55D6-B6C2A4873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81ABBA-9E30-CEEB-6637-17E77971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4812-B690-4D33-8DBC-E4DACBD4B72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6D9D6A-4B1D-F3F5-1CAB-8399A261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F0784C-7A12-0441-5268-EDC03522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62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3F8F6-2CAE-DEC3-0087-41679039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0F69A-4A99-D6F0-E12B-E03550F1D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EDF544-B171-3F7D-4F35-5D7AAA9A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669D-3864-44F1-BA39-F047F99DD62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43E11A-15FB-401C-1718-B117C986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79D6D5-ACA1-4BBD-96D6-CAF3A64D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16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CFEF3-2E04-A435-9502-741366A10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6DE226-B57B-3C5E-301E-139127BC7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EA7918-01B7-0140-C346-1F53C9D8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0337-2ABB-4267-A42A-885CAE90EF5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A497B4-41D2-1128-A240-C8B4BC0B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05C684-C8A5-5F83-66E3-200BFD80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48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79E0B-6582-BDE7-B010-C9C52271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7D3AA-696D-9ED6-E795-C6E0E64F8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F0BAE4-E513-9476-503B-64719614F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6FDDA9-C8B8-422B-E8BE-67673DC9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6CA5E-221C-456E-80F0-67ECF95D7F10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F6C1E2-F6F4-6700-ED47-6396DC4E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4E4042-9867-EF9F-4CD5-803A70CC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26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DC830-A1E9-D54F-4C09-29C1E3BC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23CC86-0A02-28EC-D4F5-68B518E10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FCCB51-FE5A-CDE2-9151-BF4C4908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8E6431-C506-83FC-2713-2C38F127C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59F19C-235A-DCA8-9761-04A3B97A1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0F287F-B2A9-D636-65B5-E9DB796A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C860-D19E-499D-BCF6-E548C5995640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76BB00-850B-47FE-A606-DC0C3772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71A4A17-01AD-3381-C9A8-B6B9A1A9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30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18D3D-3D0A-D6B0-BBD8-5D6BFFB1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1E93FA-8E02-8046-EC53-23E83492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DBFF-9C13-48BC-B456-5EE8ABFE1189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2B7BD1A-6008-F36B-3C3F-E475349D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3EA400-2AC7-52CF-61F0-B2CBCDEF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66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8FCEEE1-4C1B-117F-4685-8F68DFFC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D312-C44C-401A-9924-C494A98804C5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BD3339-ADC7-683C-FC80-B33A52C24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3014D1-EA67-15C9-A632-64A2D223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07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68486-F5F2-5DD7-ECFC-006D7331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97422-0DE6-9276-D0DA-B8DF9ADD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DE8E87-08E5-F2DF-815D-F3A5C6C8F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FA26CA-C612-D6E1-F2AA-C741D960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EE47-2373-4E40-A1F0-579F61B9FE0D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1E6485-CE71-F3FF-0ED7-909E1BDF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8BD1BC-C0DB-EBEA-EDE5-F326BBFD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7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9E1BE-FF8E-016F-FA09-B05BF859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7E4BCB-9A57-75D1-C9E4-EC98B4ABA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71422F-1E86-48F2-039F-42F38881D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AC20B4-A954-4601-3C8C-948464B7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019A2-8FF2-4BBB-A24B-7EB45552CB19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02085F-7226-780B-7495-B40C20CA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99CC2-5113-2422-6459-26B30D63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64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AA554-D069-B8E7-BBC4-8DA24DBC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A9A25C-D302-5AF8-6644-6C24A78C3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4D23F9-6F4C-527D-341A-B964E70F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50F8-6A65-4717-B664-57E28B64275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341FDE-A58E-6EEC-BDF3-1897133F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95E167-0C3E-1C4B-2752-CBA7CB21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680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0DC664D-5E95-4F74-6162-6C01A102A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8A2CE3-55FF-49B1-6C4F-A4B9726F2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C1168-3671-3AC7-A1CD-C62E694C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D2D8-0701-456A-936D-AF40B116F16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3E7CB7-D8D1-5B56-A41D-40180833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2A79D2-9399-8C6C-C367-5EA058A6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61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20139-A4D3-34EF-8130-854DC692F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F022C4-00F0-BE98-B5DA-0FCD4D4AF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D4F534-C387-3079-DB1B-38D5523E5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349AE-5302-40CA-88A6-94F21836D36C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6A0BFE-1726-CE0F-D0B8-9F263CF33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17785-E7D5-AF04-5FBA-40A86A3C8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4358F-A9F2-43F4-BD38-E4BAFA150A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0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6375" y="2383155"/>
            <a:ext cx="9239250" cy="1400175"/>
          </a:xfrm>
        </p:spPr>
        <p:txBody>
          <a:bodyPr>
            <a:no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практической работе №7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«Технология реверс-инжиниринга»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10526" y="5372100"/>
            <a:ext cx="4181474" cy="1314450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ТКИ-341 Блынский Г. В.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ТКИ-341 Костин Р. 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C2FBD-22A8-AE3D-FCFF-FEB022FEA8C6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Описание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1C825-F42C-246E-04BB-CD166780CC6D}"/>
              </a:ext>
            </a:extLst>
          </p:cNvPr>
          <p:cNvSpPr txBox="1"/>
          <p:nvPr/>
        </p:nvSpPr>
        <p:spPr>
          <a:xfrm>
            <a:off x="417922" y="4015819"/>
            <a:ext cx="113561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err="1"/>
              <a:t>Sourcegraph</a:t>
            </a:r>
            <a:r>
              <a:rPr lang="ru-RU" sz="2000" dirty="0"/>
              <a:t> — это платформа для анализа кода (Code Intelligence), которая помогает разработчикам быстро искать, понимать и управлять сложными кодовыми базами. Она семантически индексирует код, независимо от того, где он размещён, и предоставляет инструменты для ускорения разработки программного обеспечения. </a:t>
            </a:r>
            <a:br>
              <a:rPr lang="ru-RU" dirty="0"/>
            </a:br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E4B35D0-D465-4ABB-DE80-A16A5E3E7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856492"/>
            <a:ext cx="80581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A388E2-A01C-495D-95B8-48968E64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64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D90F-66AB-3A5A-F8FA-5A67D56D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3506004-4A3D-B26D-F701-4C99BA528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8" y="1053446"/>
            <a:ext cx="6274322" cy="475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E3B264-34AC-1943-5107-B3FF6F7FD0FE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Установка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6C5ED-DFE5-07E1-1F17-39ACCF235BCC}"/>
              </a:ext>
            </a:extLst>
          </p:cNvPr>
          <p:cNvSpPr txBox="1"/>
          <p:nvPr/>
        </p:nvSpPr>
        <p:spPr>
          <a:xfrm>
            <a:off x="997225" y="5895028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 – Сайт установки </a:t>
            </a:r>
            <a:r>
              <a:rPr lang="en-US" dirty="0" err="1"/>
              <a:t>Sourcegraph</a:t>
            </a:r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2496B27-037F-BBC4-EA21-470320C58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544" y="1550390"/>
            <a:ext cx="3377987" cy="375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A2ED94-E938-9B33-E704-8A7690B96F3B}"/>
              </a:ext>
            </a:extLst>
          </p:cNvPr>
          <p:cNvSpPr txBox="1"/>
          <p:nvPr/>
        </p:nvSpPr>
        <p:spPr>
          <a:xfrm>
            <a:off x="6568467" y="5398084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2 – Исполняемый файл </a:t>
            </a:r>
            <a:r>
              <a:rPr lang="en-US" dirty="0" err="1"/>
              <a:t>Sourcegraph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26D234-A957-400D-86D8-D5A63448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2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6221-FDB6-9959-BE3A-2FE67161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DE795-1B1B-A694-D87B-371FAAE4D53A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Запуск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23A41-99AC-A2B8-C118-DC4B6AF7E133}"/>
              </a:ext>
            </a:extLst>
          </p:cNvPr>
          <p:cNvSpPr txBox="1"/>
          <p:nvPr/>
        </p:nvSpPr>
        <p:spPr>
          <a:xfrm>
            <a:off x="3476476" y="6267608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3 – Запуск исполняемого файла в терминале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D3E2637-6659-9722-F4F8-8FA13FC19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78" y="1052056"/>
            <a:ext cx="9272091" cy="521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6A5A70-D8D9-4043-BE68-1C339AD8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4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F5DE4-D7C2-C8C0-3247-A1FED456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BB0123-5DD2-E802-4FF1-3321EADDE37A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Графический интерфейс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E2110-8CF6-805C-D77B-52C7F6A7A9A1}"/>
              </a:ext>
            </a:extLst>
          </p:cNvPr>
          <p:cNvSpPr txBox="1"/>
          <p:nvPr/>
        </p:nvSpPr>
        <p:spPr>
          <a:xfrm>
            <a:off x="3476475" y="2156741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4 – Сообщение в терминале о локальном размещении инструмента с указанием порта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D84458C-14BB-2339-2736-0962E5E5C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269" y="1328291"/>
            <a:ext cx="5469460" cy="82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ACBFB73-73B5-178E-7F6B-087284F6A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79" y="3118704"/>
            <a:ext cx="8336437" cy="250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6320B2-346C-7095-3822-A9EB1A87696D}"/>
              </a:ext>
            </a:extLst>
          </p:cNvPr>
          <p:cNvSpPr txBox="1"/>
          <p:nvPr/>
        </p:nvSpPr>
        <p:spPr>
          <a:xfrm>
            <a:off x="3591682" y="5623977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5 – Веб-интерфейс </a:t>
            </a:r>
            <a:r>
              <a:rPr lang="en-US" dirty="0" err="1"/>
              <a:t>Sourcegraph</a:t>
            </a:r>
            <a:r>
              <a:rPr lang="en-US" dirty="0"/>
              <a:t> c </a:t>
            </a:r>
            <a:r>
              <a:rPr lang="ru-RU" dirty="0"/>
              <a:t>его навигационной панелью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82BE82-DF86-47EA-BB87-2A2065EC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69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71D4-9802-1A79-9A9B-D117848E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463453-0DCE-98F8-0C20-FFF8B1A1AB38}"/>
              </a:ext>
            </a:extLst>
          </p:cNvPr>
          <p:cNvSpPr txBox="1"/>
          <p:nvPr/>
        </p:nvSpPr>
        <p:spPr>
          <a:xfrm>
            <a:off x="131976" y="0"/>
            <a:ext cx="4939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Графический интерфейс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7F08A8-3F8E-1FDC-B830-C8530C2EFE30}"/>
              </a:ext>
            </a:extLst>
          </p:cNvPr>
          <p:cNvSpPr txBox="1"/>
          <p:nvPr/>
        </p:nvSpPr>
        <p:spPr>
          <a:xfrm>
            <a:off x="3290024" y="6079694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6 – Веб-интерфейс </a:t>
            </a:r>
            <a:r>
              <a:rPr lang="en-US" dirty="0" err="1"/>
              <a:t>Sourcegraph</a:t>
            </a:r>
            <a:r>
              <a:rPr lang="en-US" dirty="0"/>
              <a:t> c</a:t>
            </a:r>
            <a:r>
              <a:rPr lang="ru-RU" dirty="0"/>
              <a:t> подсказками по поиску информации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15D508F-921F-4895-453C-BAC7F1C26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992" y="622169"/>
            <a:ext cx="8310092" cy="54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6ED89E-D296-48FC-950D-8F6C80B5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07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51BC-1136-BD63-9E6B-9F5039B0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D2FD4-C1F8-19D7-D5E0-12FA52B3099E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9AAF4-7A93-7132-B939-6964F23F5629}"/>
              </a:ext>
            </a:extLst>
          </p:cNvPr>
          <p:cNvSpPr txBox="1"/>
          <p:nvPr/>
        </p:nvSpPr>
        <p:spPr>
          <a:xfrm>
            <a:off x="3290024" y="6079694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7 – Результат поиска репозиториев по имени автора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CAEA138-5632-1D27-7304-388F61239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493" y="1257884"/>
            <a:ext cx="8572107" cy="48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39D19B4-04CA-4953-8483-8365A210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07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1685-4570-1C81-BF00-92514265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3442A-44BD-5684-FE55-E7B6386D1CE2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EC6D0-F079-384B-CD53-C5A37CB9F8FF}"/>
              </a:ext>
            </a:extLst>
          </p:cNvPr>
          <p:cNvSpPr txBox="1"/>
          <p:nvPr/>
        </p:nvSpPr>
        <p:spPr>
          <a:xfrm>
            <a:off x="3290024" y="6079694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8 – Результат поиска файлов по языку программирования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9DF82F0-74D8-9F0B-F3D9-C928E1999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78" y="1317396"/>
            <a:ext cx="10784538" cy="460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7201938-CC2E-4C7D-8FFF-E908D4C8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45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87FC-9BC3-26FE-A71F-3FC53340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C9922-6967-9147-4AC7-290A1FEB643D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A1721-11C9-D684-CBD4-AAABA4F531FD}"/>
              </a:ext>
            </a:extLst>
          </p:cNvPr>
          <p:cNvSpPr txBox="1"/>
          <p:nvPr/>
        </p:nvSpPr>
        <p:spPr>
          <a:xfrm>
            <a:off x="3290024" y="6079694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9 – Результат поиска репозиториев по словам из описания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683103B-B685-F8A1-54F9-B8258083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23" y="962972"/>
            <a:ext cx="10434527" cy="511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2E12921-7239-42AE-BB0C-D137503A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17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2DE8A-B599-7F97-5833-48B34062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DA7E2-76E3-0934-1CA4-DD5557871F51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7CBA0-1D85-9F8D-1BF4-75FC4CB48A71}"/>
              </a:ext>
            </a:extLst>
          </p:cNvPr>
          <p:cNvSpPr txBox="1"/>
          <p:nvPr/>
        </p:nvSpPr>
        <p:spPr>
          <a:xfrm>
            <a:off x="3290024" y="6079694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10 – Результат поиска </a:t>
            </a:r>
            <a:r>
              <a:rPr lang="ru-RU" dirty="0" err="1"/>
              <a:t>комита</a:t>
            </a:r>
            <a:r>
              <a:rPr lang="ru-RU" dirty="0"/>
              <a:t> по названию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E8E6FC6-E3C3-17F7-31C3-A09DE880C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79" y="988995"/>
            <a:ext cx="10448041" cy="509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DC4CAAC-346A-41B4-8734-78C624A7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626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B1EE-D5AC-22F1-52CA-5AB2FA97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298273-872D-F56E-D18A-D6ADD6106FF3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0B69B-86FC-E172-A1F8-9A9F7EBD8D6D}"/>
              </a:ext>
            </a:extLst>
          </p:cNvPr>
          <p:cNvSpPr txBox="1"/>
          <p:nvPr/>
        </p:nvSpPr>
        <p:spPr>
          <a:xfrm>
            <a:off x="3290024" y="6079694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11 – Результат поиска всех упоминаний операторов сравнения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A8E03E3-5C6D-5D9F-D11A-1BAD92878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8" y="962972"/>
            <a:ext cx="10589443" cy="513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FA17EE-5262-4CEE-98D4-05431175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90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3290024" y="6079694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12 – Гистограмма частотности с и </a:t>
            </a:r>
            <a:r>
              <a:rPr lang="en-US" dirty="0"/>
              <a:t>c</a:t>
            </a:r>
            <a:r>
              <a:rPr lang="ru-RU" dirty="0"/>
              <a:t>++ файлов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62CA272-0B31-BE55-BDEC-67DC55754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759" y="962972"/>
            <a:ext cx="9618482" cy="509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CE2CEA-100A-4353-B782-C406927B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36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3476475" y="5721476"/>
            <a:ext cx="523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13 – Предложение создать блокнот с выделенным фрагментом кода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C9DA4D-DEF0-452B-8CC3-5AE5EA757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85" y="1348669"/>
            <a:ext cx="11428429" cy="416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420927B-91B0-491D-9020-6303AE73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95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3476476" y="6356693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14 – Результат создания блокнота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A07789F-7111-43F5-AF39-EC30B112D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1A4B42-4203-49A7-96FD-9F3D4D257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957" y="903650"/>
            <a:ext cx="7748537" cy="536586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2AEE2D-28CA-4943-9145-CFCA55F2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152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3476476" y="6356693"/>
            <a:ext cx="523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15 – Референсы функции </a:t>
            </a:r>
            <a:r>
              <a:rPr lang="en-US" dirty="0" err="1"/>
              <a:t>randomArray</a:t>
            </a:r>
            <a:endParaRPr lang="ru-RU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A07789F-7111-43F5-AF39-EC30B112D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3B07AB7-68D1-4495-BD88-1ECD2888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833" y="1006283"/>
            <a:ext cx="7784331" cy="530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0C55A53-83B1-4CD3-BEDA-085ACF11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283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2641070" y="6334582"/>
            <a:ext cx="660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16 – Создание диаграммы используемых ЯП в репозитории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A07789F-7111-43F5-AF39-EC30B112D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E1FA62D-92C5-4254-979A-DBC83F796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666" y="1248571"/>
            <a:ext cx="8275867" cy="510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535A2C-1F4B-4F8F-AADD-FA611C50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384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2104531" y="6356693"/>
            <a:ext cx="798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17 – Создание графика глобальных переменных по датам в репозитории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A07789F-7111-43F5-AF39-EC30B112D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9792CD2-1C6F-4E6A-B9CE-6820DB1C4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058" y="910786"/>
            <a:ext cx="7807079" cy="547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55E84D7-D17E-4E7E-BFC8-CFD66B61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742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AF4E-8B4A-8102-DF89-28CC3813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9762-F832-E135-0A29-1EF9C71502BC}"/>
              </a:ext>
            </a:extLst>
          </p:cNvPr>
          <p:cNvSpPr txBox="1"/>
          <p:nvPr/>
        </p:nvSpPr>
        <p:spPr>
          <a:xfrm>
            <a:off x="141402" y="131975"/>
            <a:ext cx="3714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инструмента </a:t>
            </a:r>
            <a:r>
              <a:rPr lang="en-US" sz="2400" dirty="0" err="1"/>
              <a:t>Sourcegraph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F0AB-E431-AF7B-9D0D-DD69AAAC8056}"/>
              </a:ext>
            </a:extLst>
          </p:cNvPr>
          <p:cNvSpPr txBox="1"/>
          <p:nvPr/>
        </p:nvSpPr>
        <p:spPr>
          <a:xfrm>
            <a:off x="2104531" y="6356693"/>
            <a:ext cx="798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18 – Типы данных функций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A07789F-7111-43F5-AF39-EC30B112D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F794C7-D3A0-47B9-B4F1-67E09405F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54" y="1135719"/>
            <a:ext cx="11239893" cy="489136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6ACA45C-5BC6-4D16-87AD-3FF0A35B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1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61735-EB9B-CB75-EFB4-FEA089E6D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746ECE-1F69-E3E7-3EAF-53A3BA715F5D}"/>
              </a:ext>
            </a:extLst>
          </p:cNvPr>
          <p:cNvSpPr txBox="1"/>
          <p:nvPr/>
        </p:nvSpPr>
        <p:spPr>
          <a:xfrm>
            <a:off x="5359138" y="569727"/>
            <a:ext cx="178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Вывод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105F4-31DF-EA0E-28D5-A402C36AE26C}"/>
              </a:ext>
            </a:extLst>
          </p:cNvPr>
          <p:cNvSpPr txBox="1"/>
          <p:nvPr/>
        </p:nvSpPr>
        <p:spPr>
          <a:xfrm>
            <a:off x="820132" y="1442302"/>
            <a:ext cx="10859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ходе выполнения практической работы был освоен инструмент реверс-инжиниринга </a:t>
            </a:r>
            <a:r>
              <a:rPr lang="ru-RU" sz="2000" b="1" dirty="0" err="1"/>
              <a:t>Sourcegraph</a:t>
            </a:r>
            <a:r>
              <a:rPr lang="ru-RU" sz="2000" dirty="0"/>
              <a:t> — платформа для интеллектуального анализа кода, обеспечивающая семантический поиск, навигацию и визуализацию структуры программных проектов.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3161D-CACB-C625-379C-58AA1272ABB8}"/>
              </a:ext>
            </a:extLst>
          </p:cNvPr>
          <p:cNvSpPr txBox="1"/>
          <p:nvPr/>
        </p:nvSpPr>
        <p:spPr>
          <a:xfrm>
            <a:off x="820132" y="2960016"/>
            <a:ext cx="98133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Применимость для реверс-инжиниринга</a:t>
            </a:r>
            <a:br>
              <a:rPr lang="ru-RU" sz="2000" dirty="0"/>
            </a:br>
            <a:r>
              <a:rPr lang="ru-RU" sz="2000" b="1" dirty="0" err="1"/>
              <a:t>Sourcegraph</a:t>
            </a:r>
            <a:r>
              <a:rPr lang="ru-RU" sz="2000" dirty="0"/>
              <a:t> эффективен для задач: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/>
              <a:t>быстрого ознакомления с незнакомой кодовой базой;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/>
              <a:t>поиска </a:t>
            </a:r>
            <a:r>
              <a:rPr lang="ru-RU" sz="2000" dirty="0"/>
              <a:t>искомых фрагментов кода;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/>
              <a:t>анализа зависимостей и вызовов функций;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/>
              <a:t>первичного анализа кода перед более глубоким исследованием.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DEF788-005E-4C80-8E4C-2A7C6EC4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358F-A9F2-43F4-BD38-E4BAFA150A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8217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390</Words>
  <Application>Microsoft Office PowerPoint</Application>
  <PresentationFormat>Широкоэкранный</PresentationFormat>
  <Paragraphs>65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Отчет  по практической работе №7 по дисциплине «Технология реверс-инжиниринга»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 по практической работе №7 по дисциплине «Технология реверс-инжиниринга»</dc:title>
  <dc:creator>Герман Блынский</dc:creator>
  <cp:lastModifiedBy>Lomanror Kostin</cp:lastModifiedBy>
  <cp:revision>9</cp:revision>
  <dcterms:created xsi:type="dcterms:W3CDTF">2026-06-03T23:07:26Z</dcterms:created>
  <dcterms:modified xsi:type="dcterms:W3CDTF">2026-06-04T08:39:28Z</dcterms:modified>
</cp:coreProperties>
</file>