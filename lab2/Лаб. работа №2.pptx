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5"/>
  </p:notesMasterIdLst>
  <p:handoutMasterIdLst>
    <p:handoutMasterId r:id="rId86"/>
  </p:handoutMasterIdLst>
  <p:sldIdLst>
    <p:sldId id="256" r:id="rId3"/>
    <p:sldId id="347" r:id="rId4"/>
    <p:sldId id="260" r:id="rId5"/>
    <p:sldId id="345" r:id="rId6"/>
    <p:sldId id="34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0" r:id="rId16"/>
    <p:sldId id="280" r:id="rId17"/>
    <p:sldId id="281" r:id="rId18"/>
    <p:sldId id="272" r:id="rId19"/>
    <p:sldId id="273" r:id="rId20"/>
    <p:sldId id="274" r:id="rId21"/>
    <p:sldId id="275" r:id="rId22"/>
    <p:sldId id="276" r:id="rId23"/>
    <p:sldId id="282" r:id="rId24"/>
    <p:sldId id="277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21" r:id="rId58"/>
    <p:sldId id="323" r:id="rId59"/>
    <p:sldId id="316" r:id="rId60"/>
    <p:sldId id="317" r:id="rId61"/>
    <p:sldId id="318" r:id="rId62"/>
    <p:sldId id="319" r:id="rId63"/>
    <p:sldId id="320" r:id="rId64"/>
    <p:sldId id="324" r:id="rId65"/>
    <p:sldId id="325" r:id="rId66"/>
    <p:sldId id="326" r:id="rId67"/>
    <p:sldId id="327" r:id="rId68"/>
    <p:sldId id="328" r:id="rId69"/>
    <p:sldId id="330" r:id="rId70"/>
    <p:sldId id="331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51" r:id="rId82"/>
    <p:sldId id="344" r:id="rId83"/>
    <p:sldId id="346" r:id="rId84"/>
  </p:sldIdLst>
  <p:sldSz cx="12192000" cy="6858000"/>
  <p:notesSz cx="7103745" cy="1023429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ерман Блынский" initials="ГБ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commentAuthors" Target="commentAuthors.xml"/><Relationship Id="rId9" Type="http://schemas.openxmlformats.org/officeDocument/2006/relationships/slide" Target="slides/slide7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handoutMaster" Target="handoutMasters/handoutMaster1.xml"/><Relationship Id="rId85" Type="http://schemas.openxmlformats.org/officeDocument/2006/relationships/notesMaster" Target="notesMasters/notesMaster1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8460E-F0F2-43AE-A89E-99F668C0ADE0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AD477-CC18-4346-877F-66E2DAFAE315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E952D-E9ED-47EB-B240-7CC878517150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3276-B59C-45EF-B82F-7A52346B57A1}" type="datetime1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9367-8D54-4795-855A-54ABCAB10564}" type="datetime1">
              <a:rPr lang="en-US" smtClean="0"/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A9E74-8B79-4281-AF76-4DED007C32CE}" type="datetime1">
              <a:rPr lang="en-US" smtClean="0"/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EB9-C262-465C-B97F-3522867B2B02}" type="datetime1">
              <a:rPr lang="en-US" smtClean="0"/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CEC6-2AA0-43F3-B774-0AC3A9C73B66}" type="datetime1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6683-ED7F-4E28-81DB-80A411EBA389}" type="datetime1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1FC5-5AF4-4DB7-B6F4-ADA5141510D3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9CCB-4CB8-44AA-8A8E-FFD8977F8A4B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E9DC-ED7A-4B12-B9B2-9DA8FEA08B1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B93E3-19E2-42E4-8A56-9D7A31EE9178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tags" Target="../tags/tag4.xml"/><Relationship Id="rId4" Type="http://schemas.openxmlformats.org/officeDocument/2006/relationships/image" Target="../media/image30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jpeg"/><Relationship Id="rId1" Type="http://schemas.openxmlformats.org/officeDocument/2006/relationships/image" Target="../media/image67.jpe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9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9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7.png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8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6375" y="2383155"/>
            <a:ext cx="9239250" cy="1400175"/>
          </a:xfrm>
        </p:spPr>
        <p:txBody>
          <a:bodyPr>
            <a:no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практической работе №2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«Технология реверс-инжиниринга»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10526" y="5372100"/>
            <a:ext cx="4181474" cy="1314450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ТКИ-341 Блынский Г. 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ТКИ-341 Костин Р. С.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60629"/>
            <a:ext cx="10515600" cy="4934089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Задание………………………………………………………………………………………………………....3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Используемый код……………………………………………………………………………………………..5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 debug x64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…………………………………………………………………………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 debug x32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………………………………………………………………………..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 release x64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2026 debug x64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………………………………………………………………………..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………………………………………………………………………………………………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………………………………………………………………………………………………….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2022 debug x64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debug x32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сравнений программ………………………………………………………………………………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Вывод…………………………………………………………………………………………………………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z="1400" smtClean="0"/>
            </a:fld>
            <a:endParaRPr lang="en-US" sz="14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860611" y="566678"/>
            <a:ext cx="1047077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 </a:t>
            </a:r>
            <a:endParaRPr lang="ru-RU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Скомпилировать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исполняемый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(exe)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заданного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компиляторах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версии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хотя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двух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разных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лет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Компилируем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исполняемый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(exe)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заданного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ситуации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разрядов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нибудь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860611" y="566678"/>
            <a:ext cx="1047077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 </a:t>
            </a:r>
            <a:endParaRPr lang="ru-RU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Компилируем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исполняемый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(exe)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заданного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заданной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разрядности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нибудь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Debug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Release.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исполняемого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(exe)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заданного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вариантом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опираемся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учебное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пособие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Uchebnoe_Posobie_revers_inzhiniring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опираемся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учебное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пособие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Uchebnoe_Posobie_revers_inzhiniring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опираемся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Ляпиной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 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Python_reverse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графы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вызова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Radare2,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полученных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 exe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анализируем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средствами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Используемый код в лабораторной работе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18" y="1828800"/>
            <a:ext cx="4334121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9496" y="5029200"/>
            <a:ext cx="4957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1 – Код программы, написанной на ЯЗ С++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392" y="2063438"/>
            <a:ext cx="5176960" cy="29657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24509" y="5030979"/>
            <a:ext cx="3354726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2 – Ярлыки всех </a:t>
            </a:r>
            <a:r>
              <a:rPr lang="en-US" dirty="0"/>
              <a:t>exe </a:t>
            </a:r>
            <a:r>
              <a:rPr lang="ru-RU" dirty="0"/>
              <a:t>файлов</a:t>
            </a:r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52825" y="5954188"/>
            <a:ext cx="309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3 - Дизассемблирование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15153" y="277906"/>
            <a:ext cx="53608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2165350" y="1440180"/>
            <a:ext cx="7072630" cy="414147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5153" y="277906"/>
            <a:ext cx="53608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42539" y="6113225"/>
            <a:ext cx="40242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</a:t>
            </a:r>
            <a:r>
              <a:rPr lang="en-US" altLang="ru-RU" dirty="0"/>
              <a:t>5</a:t>
            </a:r>
            <a:r>
              <a:rPr lang="ru-RU" dirty="0"/>
              <a:t> – Граф вызова процедур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017135" y="2741295"/>
            <a:ext cx="2157730" cy="308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</a:t>
            </a:r>
            <a:r>
              <a:rPr lang="en-US" altLang="ru-RU" dirty="0"/>
              <a:t>4</a:t>
            </a:r>
            <a:r>
              <a:rPr lang="ru-RU" dirty="0"/>
              <a:t> – </a:t>
            </a:r>
            <a:r>
              <a:rPr lang="en-US" dirty="0"/>
              <a:t>hex dump</a:t>
            </a:r>
            <a:endParaRPr lang="ru-RU" dirty="0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375410"/>
            <a:ext cx="6248400" cy="1276350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57785" y="3042285"/>
            <a:ext cx="12077065" cy="296481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153" y="277906"/>
            <a:ext cx="53608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279015" y="1406525"/>
            <a:ext cx="7633970" cy="4255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7160" y="5953553"/>
            <a:ext cx="309744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</a:t>
            </a:r>
            <a:r>
              <a:rPr lang="en-US" altLang="ru-RU" dirty="0"/>
              <a:t>6</a:t>
            </a:r>
            <a:r>
              <a:rPr lang="ru-RU" dirty="0"/>
              <a:t> - Дизассемблирование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518285" y="257810"/>
            <a:ext cx="9450705" cy="57486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7160" y="5953553"/>
            <a:ext cx="309744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7</a:t>
            </a:r>
            <a:r>
              <a:rPr lang="ru-RU" dirty="0"/>
              <a:t> - Граф полный</a:t>
            </a:r>
            <a:endParaRPr lang="en-US" alt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90805" y="278130"/>
            <a:ext cx="361696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debug, x64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153" y="277906"/>
            <a:ext cx="53608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713865" y="1206500"/>
            <a:ext cx="8764270" cy="2414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9020" y="3765550"/>
            <a:ext cx="2473960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8 - Граф частичный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2"/>
          <a:stretch>
            <a:fillRect/>
          </a:stretch>
        </p:blipFill>
        <p:spPr>
          <a:xfrm>
            <a:off x="2862580" y="4307205"/>
            <a:ext cx="6332220" cy="1691640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4944745" y="6143625"/>
            <a:ext cx="2473960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9 - Дамп памяти</a:t>
            </a:r>
            <a:endParaRPr lang="en-US" alt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2022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20" y="871220"/>
            <a:ext cx="5591175" cy="4710430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7627620" y="2916555"/>
            <a:ext cx="327723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10 - Дизассемблирование</a:t>
            </a:r>
            <a:endParaRPr lang="en-US" altLang="ru-RU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05" y="5912485"/>
            <a:ext cx="8894445" cy="3873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427845" y="5912485"/>
            <a:ext cx="2473960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</a:t>
            </a:r>
            <a:r>
              <a:rPr lang="en-US" altLang="ru-RU" dirty="0"/>
              <a:t>1</a:t>
            </a:r>
            <a:r>
              <a:rPr lang="ru-RU" altLang="en-US" dirty="0"/>
              <a:t>1</a:t>
            </a:r>
            <a:r>
              <a:rPr lang="ru-RU" dirty="0"/>
              <a:t> - Дамп памяти</a:t>
            </a:r>
            <a:endParaRPr lang="en-US" alt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356235" y="1484630"/>
            <a:ext cx="5620385" cy="3889375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6367780" y="1583055"/>
            <a:ext cx="5508625" cy="3691890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1527810" y="5560060"/>
            <a:ext cx="327723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12 - Информация о файле</a:t>
            </a:r>
            <a:endParaRPr lang="en-US" altLang="ru-RU" dirty="0"/>
          </a:p>
        </p:txBody>
      </p:sp>
      <p:sp>
        <p:nvSpPr>
          <p:cNvPr id="10" name="TextBox 3"/>
          <p:cNvSpPr txBox="1"/>
          <p:nvPr/>
        </p:nvSpPr>
        <p:spPr>
          <a:xfrm>
            <a:off x="7483475" y="5455285"/>
            <a:ext cx="327723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13 - Дизассемблирование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643890" y="1207770"/>
            <a:ext cx="4708525" cy="4582795"/>
          </a:xfrm>
          <a:prstGeom prst="rect">
            <a:avLst/>
          </a:prstGeom>
        </p:spPr>
      </p:pic>
      <p:pic>
        <p:nvPicPr>
          <p:cNvPr id="3" name="Изображение 2"/>
          <p:cNvPicPr/>
          <p:nvPr/>
        </p:nvPicPr>
        <p:blipFill>
          <a:blip r:embed="rId2"/>
          <a:stretch>
            <a:fillRect/>
          </a:stretch>
        </p:blipFill>
        <p:spPr>
          <a:xfrm>
            <a:off x="6815455" y="1208405"/>
            <a:ext cx="3936365" cy="474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1855" y="597598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14 - Граф дизассеблированного кода</a:t>
            </a:r>
            <a:endParaRPr lang="en-US" altLang="ru-RU" dirty="0"/>
          </a:p>
        </p:txBody>
      </p:sp>
      <p:sp>
        <p:nvSpPr>
          <p:cNvPr id="5" name="TextBox 3"/>
          <p:cNvSpPr txBox="1"/>
          <p:nvPr/>
        </p:nvSpPr>
        <p:spPr>
          <a:xfrm>
            <a:off x="6853555" y="604583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15 - Граф без представления кода</a:t>
            </a:r>
            <a:endParaRPr lang="en-US" alt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18770" y="1396365"/>
            <a:ext cx="5981700" cy="421767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75" y="1328420"/>
            <a:ext cx="4781550" cy="4352925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1671320" y="5681345"/>
            <a:ext cx="327723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16 - Информация о файле</a:t>
            </a:r>
            <a:endParaRPr lang="en-US" altLang="ru-RU" dirty="0"/>
          </a:p>
        </p:txBody>
      </p:sp>
      <p:sp>
        <p:nvSpPr>
          <p:cNvPr id="10" name="TextBox 3"/>
          <p:cNvSpPr txBox="1"/>
          <p:nvPr/>
        </p:nvSpPr>
        <p:spPr>
          <a:xfrm>
            <a:off x="7483475" y="5728335"/>
            <a:ext cx="327723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17 - Дизассемблирование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787525" y="877570"/>
            <a:ext cx="5083810" cy="4164965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7044690" y="270065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18 - Граф дизассеблированного кода</a:t>
            </a:r>
            <a:endParaRPr lang="en-US" altLang="ru-RU" dirty="0"/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" y="5267325"/>
            <a:ext cx="7980045" cy="998220"/>
          </a:xfrm>
          <a:prstGeom prst="rect">
            <a:avLst/>
          </a:prstGeom>
        </p:spPr>
      </p:pic>
      <p:sp>
        <p:nvSpPr>
          <p:cNvPr id="12" name="TextBox 3"/>
          <p:cNvSpPr txBox="1"/>
          <p:nvPr/>
        </p:nvSpPr>
        <p:spPr>
          <a:xfrm>
            <a:off x="8751570" y="5539740"/>
            <a:ext cx="3257550" cy="492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19 -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debug,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922780" y="668655"/>
            <a:ext cx="7848600" cy="564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78045" y="6313170"/>
            <a:ext cx="283527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20 - Декомпиляция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428625" y="1113790"/>
            <a:ext cx="5902960" cy="4975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1340" y="6180455"/>
            <a:ext cx="3270250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21 - Дизассемблирование</a:t>
            </a:r>
            <a:endParaRPr 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745105"/>
            <a:ext cx="5581650" cy="1711960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8077835" y="4578350"/>
            <a:ext cx="237998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22 - Дамп памяти</a:t>
            </a:r>
            <a:endParaRPr lang="en-US" alt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06010" y="5782310"/>
            <a:ext cx="237998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23 - Граф полный</a:t>
            </a:r>
            <a:endParaRPr lang="en-US" altLang="ru-RU" dirty="0"/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74930" y="1511935"/>
            <a:ext cx="12059920" cy="41529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22580" y="1876425"/>
            <a:ext cx="5885815" cy="3477895"/>
          </a:xfrm>
          <a:prstGeom prst="rect">
            <a:avLst/>
          </a:prstGeom>
        </p:spPr>
      </p:pic>
      <p:pic>
        <p:nvPicPr>
          <p:cNvPr id="3" name="Изображение 2"/>
          <p:cNvPicPr/>
          <p:nvPr/>
        </p:nvPicPr>
        <p:blipFill>
          <a:blip r:embed="rId2"/>
          <a:stretch>
            <a:fillRect/>
          </a:stretch>
        </p:blipFill>
        <p:spPr>
          <a:xfrm>
            <a:off x="6667500" y="2564765"/>
            <a:ext cx="5198745" cy="1938655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1716405" y="5547995"/>
            <a:ext cx="3260090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24 - Дизассемблирование</a:t>
            </a:r>
            <a:endParaRPr lang="ru-RU" dirty="0"/>
          </a:p>
        </p:txBody>
      </p:sp>
      <p:sp>
        <p:nvSpPr>
          <p:cNvPr id="8" name="TextBox 3"/>
          <p:cNvSpPr txBox="1"/>
          <p:nvPr/>
        </p:nvSpPr>
        <p:spPr>
          <a:xfrm>
            <a:off x="8077200" y="4740910"/>
            <a:ext cx="237998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25 - Дамп памяти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1535430" y="1316990"/>
            <a:ext cx="9121140" cy="4358640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4752975" y="5782310"/>
            <a:ext cx="2686050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26 - Граф частичный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2022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1310640" y="6198235"/>
            <a:ext cx="3394075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27 - Дизассемблирование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70485" y="1068705"/>
            <a:ext cx="5273040" cy="508254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310" y="3429000"/>
            <a:ext cx="6572885" cy="554355"/>
          </a:xfrm>
          <a:prstGeom prst="rect">
            <a:avLst/>
          </a:prstGeom>
        </p:spPr>
      </p:pic>
      <p:sp>
        <p:nvSpPr>
          <p:cNvPr id="8" name="TextBox 3"/>
          <p:cNvSpPr txBox="1"/>
          <p:nvPr/>
        </p:nvSpPr>
        <p:spPr>
          <a:xfrm>
            <a:off x="7265670" y="4084320"/>
            <a:ext cx="3098165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28 -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3"/>
          <p:cNvSpPr txBox="1"/>
          <p:nvPr>
            <p:custDataLst>
              <p:tags r:id="rId1"/>
            </p:custDataLst>
          </p:nvPr>
        </p:nvSpPr>
        <p:spPr>
          <a:xfrm>
            <a:off x="1671320" y="5681345"/>
            <a:ext cx="327723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29 - Информация о файле</a:t>
            </a:r>
            <a:endParaRPr lang="en-US" altLang="ru-RU" dirty="0"/>
          </a:p>
        </p:txBody>
      </p:sp>
      <p:sp>
        <p:nvSpPr>
          <p:cNvPr id="10" name="TextBox 3"/>
          <p:cNvSpPr txBox="1"/>
          <p:nvPr>
            <p:custDataLst>
              <p:tags r:id="rId2"/>
            </p:custDataLst>
          </p:nvPr>
        </p:nvSpPr>
        <p:spPr>
          <a:xfrm>
            <a:off x="7483475" y="5728335"/>
            <a:ext cx="327723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30 - Дизассемблирование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2295" y="1251585"/>
            <a:ext cx="5455285" cy="442976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88075" y="1270635"/>
            <a:ext cx="5629910" cy="439991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21945" y="1146175"/>
            <a:ext cx="6962140" cy="38233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89495" y="290131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31 - Граф дизассеблированного кода</a:t>
            </a:r>
            <a:endParaRPr lang="en-US" altLang="ru-RU" dirty="0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" y="5327650"/>
            <a:ext cx="7865745" cy="914400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8293100" y="5610225"/>
            <a:ext cx="2443480" cy="414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32 - Дамп памяти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2350770" y="783590"/>
            <a:ext cx="7049770" cy="5614035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3969385" y="639762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33 - Граф в полном размере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3713480" y="623633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3</a:t>
            </a:r>
            <a:r>
              <a:rPr lang="ru-RU" altLang="en-US" dirty="0"/>
              <a:t>4</a:t>
            </a:r>
            <a:r>
              <a:rPr lang="ru-RU" dirty="0"/>
              <a:t> - Декомпиляция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60500" y="1088390"/>
            <a:ext cx="8759190" cy="508190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709930" y="1597025"/>
            <a:ext cx="5188585" cy="3788410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6811328" y="2948305"/>
            <a:ext cx="4238625" cy="1752600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899160" y="538543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3</a:t>
            </a:r>
            <a:r>
              <a:rPr lang="ru-RU" altLang="en-US" dirty="0"/>
              <a:t>5</a:t>
            </a:r>
            <a:r>
              <a:rPr lang="ru-RU" dirty="0"/>
              <a:t> - Дизассемблирование</a:t>
            </a:r>
            <a:endParaRPr lang="en-US" altLang="ru-RU" dirty="0"/>
          </a:p>
        </p:txBody>
      </p:sp>
      <p:sp>
        <p:nvSpPr>
          <p:cNvPr id="10" name="TextBox 3"/>
          <p:cNvSpPr txBox="1"/>
          <p:nvPr/>
        </p:nvSpPr>
        <p:spPr>
          <a:xfrm>
            <a:off x="6797040" y="4706620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3</a:t>
            </a:r>
            <a:r>
              <a:rPr lang="ru-RU" altLang="en-US" dirty="0"/>
              <a:t>6</a:t>
            </a:r>
            <a:r>
              <a:rPr lang="ru-RU" dirty="0"/>
              <a:t>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2747645" y="1307465"/>
            <a:ext cx="6807835" cy="452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25265" y="5905500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3</a:t>
            </a:r>
            <a:r>
              <a:rPr lang="ru-RU" altLang="en-US" dirty="0"/>
              <a:t>7</a:t>
            </a:r>
            <a:r>
              <a:rPr lang="ru-RU" dirty="0"/>
              <a:t> - Информация о файле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debug x32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220470" y="621665"/>
            <a:ext cx="3237230" cy="540702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91555" y="1154430"/>
            <a:ext cx="4923155" cy="4874260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712470" y="6139180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38 - Граф дизассеблированного кода</a:t>
            </a:r>
            <a:endParaRPr lang="en-US" altLang="ru-RU" dirty="0"/>
          </a:p>
        </p:txBody>
      </p:sp>
      <p:sp>
        <p:nvSpPr>
          <p:cNvPr id="8" name="TextBox 3"/>
          <p:cNvSpPr txBox="1"/>
          <p:nvPr/>
        </p:nvSpPr>
        <p:spPr>
          <a:xfrm>
            <a:off x="6761480" y="6139180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39 - Граф без представления кода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2689225" y="1206500"/>
            <a:ext cx="6813550" cy="257746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80" y="4599940"/>
            <a:ext cx="4943475" cy="1038225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3969385" y="3806190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40 - Дизассемблирование</a:t>
            </a:r>
            <a:endParaRPr lang="en-US" altLang="ru-RU" dirty="0"/>
          </a:p>
        </p:txBody>
      </p:sp>
      <p:sp>
        <p:nvSpPr>
          <p:cNvPr id="10" name="TextBox 3"/>
          <p:cNvSpPr txBox="1"/>
          <p:nvPr/>
        </p:nvSpPr>
        <p:spPr>
          <a:xfrm>
            <a:off x="4025265" y="5638165"/>
            <a:ext cx="42532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41 -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3825240" y="4805680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42 - Граф дизассемблированного кода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8100" y="1861185"/>
            <a:ext cx="12105640" cy="294449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710565" y="5076190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43 - Дизассемблирование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460375" y="1422400"/>
            <a:ext cx="5215255" cy="359664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04465"/>
            <a:ext cx="5762625" cy="1895475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6706870" y="467042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44 -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074420" y="1022350"/>
            <a:ext cx="9277985" cy="530669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3825240" y="632904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45 - Граф в общем виде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262890" y="1402080"/>
            <a:ext cx="11666220" cy="4053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25875" y="551497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46 - Фрагмент графа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2022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1020" y="335978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47 - Дизассемблирование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473710" y="1022350"/>
            <a:ext cx="6858000" cy="470154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6042660"/>
            <a:ext cx="8994140" cy="590550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8406130" y="616394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48 - Дамп памяти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96975" y="595312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49 - Информация о файле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576580" y="1388110"/>
            <a:ext cx="5782310" cy="445579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1258570"/>
            <a:ext cx="3781425" cy="4714875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6383020" y="608012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50 - Дизассемблирование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934960" y="344487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51 - Граф вызова процедур</a:t>
            </a:r>
            <a:endParaRPr lang="en-US" altLang="ru-RU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2312670" y="1079500"/>
            <a:ext cx="6032500" cy="434403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" y="5672455"/>
            <a:ext cx="8766175" cy="909955"/>
          </a:xfrm>
          <a:prstGeom prst="rect">
            <a:avLst/>
          </a:prstGeom>
        </p:spPr>
      </p:pic>
      <p:sp>
        <p:nvSpPr>
          <p:cNvPr id="10" name="TextBox 3"/>
          <p:cNvSpPr txBox="1"/>
          <p:nvPr/>
        </p:nvSpPr>
        <p:spPr>
          <a:xfrm>
            <a:off x="7934960" y="595312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52 -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3825875" y="6301740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53 - Декомпеляция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705100" y="658495"/>
            <a:ext cx="6781800" cy="564324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3825240" y="531177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54 - Информация о файле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3204845" y="1546225"/>
            <a:ext cx="5782945" cy="376555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1052830" y="509333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55 - Дизассемблирование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551180" y="1486535"/>
            <a:ext cx="5544820" cy="3521075"/>
          </a:xfrm>
          <a:prstGeom prst="rect">
            <a:avLst/>
          </a:prstGeom>
        </p:spPr>
      </p:pic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7041198" y="2933700"/>
            <a:ext cx="4200525" cy="990599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6784975" y="410908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56 - Дамп памяти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release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983615" y="588835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57 - Граф вызова процедур</a:t>
            </a:r>
            <a:endParaRPr lang="en-US" altLang="ru-RU" dirty="0"/>
          </a:p>
        </p:txBody>
      </p:sp>
      <p:sp>
        <p:nvSpPr>
          <p:cNvPr id="5" name="TextBox 3"/>
          <p:cNvSpPr txBox="1"/>
          <p:nvPr/>
        </p:nvSpPr>
        <p:spPr>
          <a:xfrm>
            <a:off x="6784975" y="5908040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58 - Граф вызова процедур без представления кода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057275" y="1114425"/>
            <a:ext cx="4392930" cy="4773930"/>
          </a:xfrm>
          <a:prstGeom prst="rect">
            <a:avLst/>
          </a:prstGeom>
        </p:spPr>
      </p:pic>
      <p:pic>
        <p:nvPicPr>
          <p:cNvPr id="6" name="Изображение 5"/>
          <p:cNvPicPr/>
          <p:nvPr/>
        </p:nvPicPr>
        <p:blipFill>
          <a:blip r:embed="rId2"/>
          <a:stretch>
            <a:fillRect/>
          </a:stretch>
        </p:blipFill>
        <p:spPr>
          <a:xfrm>
            <a:off x="7360920" y="1599565"/>
            <a:ext cx="2970530" cy="426085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1186180" y="5908040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59 - Дизассемблирование</a:t>
            </a:r>
            <a:endParaRPr lang="en-US" altLang="ru-RU" dirty="0"/>
          </a:p>
        </p:txBody>
      </p:sp>
      <p:sp>
        <p:nvSpPr>
          <p:cNvPr id="5" name="TextBox 3"/>
          <p:cNvSpPr txBox="1"/>
          <p:nvPr/>
        </p:nvSpPr>
        <p:spPr>
          <a:xfrm>
            <a:off x="7186930" y="522541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60 - Дамп памяти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15265" y="2042795"/>
            <a:ext cx="6483350" cy="379539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190" y="3720465"/>
            <a:ext cx="4953000" cy="150495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3667125" y="507555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61 -</a:t>
            </a:r>
            <a:r>
              <a:rPr lang="en-US" altLang="ru-RU" dirty="0"/>
              <a:t> </a:t>
            </a:r>
            <a:r>
              <a:rPr lang="ru-RU" altLang="ru-RU" dirty="0"/>
              <a:t>Граф в общем виде</a:t>
            </a:r>
            <a:endParaRPr lang="ru-RU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17475" y="2113280"/>
            <a:ext cx="11957050" cy="282257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15265" y="1603375"/>
            <a:ext cx="6257925" cy="400494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940" y="2887345"/>
            <a:ext cx="5271770" cy="1719580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1073785" y="568769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62 - Дизассемблирование</a:t>
            </a:r>
            <a:endParaRPr lang="en-US" altLang="ru-RU" dirty="0"/>
          </a:p>
        </p:txBody>
      </p:sp>
      <p:sp>
        <p:nvSpPr>
          <p:cNvPr id="6" name="TextBox 3"/>
          <p:cNvSpPr txBox="1"/>
          <p:nvPr/>
        </p:nvSpPr>
        <p:spPr>
          <a:xfrm>
            <a:off x="7124700" y="460692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63 - Дамп памяти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3868420" y="6170930"/>
            <a:ext cx="514350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64 - Граф вызова процедур в общем виде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723265" y="1083310"/>
            <a:ext cx="10831195" cy="502729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3868420" y="6170930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65 - Фрагмент графа вызова процедур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562100" y="1217930"/>
            <a:ext cx="9067800" cy="495300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 2026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330315" y="325437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66 - Дизассемблирование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609090" y="667385"/>
            <a:ext cx="4636135" cy="4935855"/>
          </a:xfrm>
          <a:prstGeom prst="rect">
            <a:avLst/>
          </a:prstGeom>
        </p:spPr>
      </p:pic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7320" y="5842000"/>
            <a:ext cx="8940165" cy="65595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8067040" y="603694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67 -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/>
          <p:cNvSpPr txBox="1"/>
          <p:nvPr>
            <p:custDataLst>
              <p:tags r:id="rId1"/>
            </p:custDataLst>
          </p:nvPr>
        </p:nvSpPr>
        <p:spPr>
          <a:xfrm>
            <a:off x="3825240" y="6032500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68 - Информация о файле</a:t>
            </a:r>
            <a:endParaRPr lang="en-US" altLang="ru-RU" dirty="0"/>
          </a:p>
        </p:txBody>
      </p:sp>
      <p:pic>
        <p:nvPicPr>
          <p:cNvPr id="2" name="Изображение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84475" y="1185545"/>
            <a:ext cx="6336665" cy="468376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30" y="1099185"/>
            <a:ext cx="5961380" cy="406336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6452870" y="325437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69 - Дизассемблирование</a:t>
            </a:r>
            <a:endParaRPr lang="en-US" altLang="ru-RU" dirty="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5520055"/>
            <a:ext cx="7368540" cy="874395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6867525" y="5782945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70 -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303165" y="278130"/>
            <a:ext cx="8228928" cy="616140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622590" y="3181984"/>
            <a:ext cx="45408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71- Граф вызова процедур </a:t>
            </a:r>
            <a:endParaRPr lang="ru-RU" dirty="0"/>
          </a:p>
          <a:p>
            <a:pPr algn="ctr"/>
            <a:r>
              <a:rPr lang="ru-RU" dirty="0"/>
              <a:t>в общем виде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92855" y="606552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72 - Фрагмент графа вызова процедур </a:t>
            </a:r>
            <a:endParaRPr lang="ru-RU" dirty="0"/>
          </a:p>
          <a:p>
            <a:pPr algn="ctr"/>
            <a:endParaRPr lang="en-US" altLang="ru-RU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869440" y="1489710"/>
            <a:ext cx="8453755" cy="444246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629660" y="629539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73 - Декомпиляция </a:t>
            </a:r>
            <a:endParaRPr lang="ru-RU" dirty="0"/>
          </a:p>
          <a:p>
            <a:pPr algn="ctr"/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676525" y="481965"/>
            <a:ext cx="6838950" cy="573659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42010" y="547179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74 - Информация по файлу</a:t>
            </a:r>
            <a:endParaRPr lang="ru-RU" dirty="0"/>
          </a:p>
          <a:p>
            <a:pPr algn="ctr"/>
            <a:endParaRPr lang="en-US" altLang="ru-RU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580390" y="1813560"/>
            <a:ext cx="5285105" cy="3526790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6531610" y="2018665"/>
            <a:ext cx="4588510" cy="332168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6361430" y="559879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75 - Декомпиляция</a:t>
            </a:r>
            <a:endParaRPr lang="ru-RU" dirty="0"/>
          </a:p>
          <a:p>
            <a:pPr algn="ctr"/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38555" y="559879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76 - Дизассемблирование</a:t>
            </a:r>
            <a:endParaRPr lang="ru-RU" dirty="0"/>
          </a:p>
          <a:p>
            <a:pPr algn="ctr"/>
            <a:endParaRPr lang="en-US" altLang="ru-RU" dirty="0"/>
          </a:p>
        </p:txBody>
      </p:sp>
      <p:sp>
        <p:nvSpPr>
          <p:cNvPr id="6" name="TextBox 3"/>
          <p:cNvSpPr txBox="1"/>
          <p:nvPr/>
        </p:nvSpPr>
        <p:spPr>
          <a:xfrm>
            <a:off x="6795135" y="525018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77 - Дамп памяти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2031365"/>
            <a:ext cx="5570220" cy="3567430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6978968" y="3562668"/>
            <a:ext cx="4238625" cy="162877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debug x64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51205" y="604456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78 - Граф вызова процедур</a:t>
            </a:r>
            <a:endParaRPr lang="ru-RU" dirty="0"/>
          </a:p>
          <a:p>
            <a:pPr algn="ctr"/>
            <a:endParaRPr lang="en-US" altLang="ru-RU" dirty="0"/>
          </a:p>
        </p:txBody>
      </p:sp>
      <p:sp>
        <p:nvSpPr>
          <p:cNvPr id="6" name="TextBox 3"/>
          <p:cNvSpPr txBox="1"/>
          <p:nvPr/>
        </p:nvSpPr>
        <p:spPr>
          <a:xfrm>
            <a:off x="6295390" y="604456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79 - Граф вызова процедур без кода</a:t>
            </a:r>
            <a:endParaRPr lang="en-US" altLang="ru-RU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789430" y="794385"/>
            <a:ext cx="2645410" cy="526986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5923915" y="1668145"/>
            <a:ext cx="4748530" cy="403987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4425" y="412750"/>
            <a:ext cx="7038975" cy="551497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3599815" y="592772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80 - Дизассемблирование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3388995" y="284099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81 - Дамп памяти</a:t>
            </a:r>
            <a:endParaRPr lang="en-US" alt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890" y="1374140"/>
            <a:ext cx="6200775" cy="146685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38880"/>
            <a:ext cx="11186160" cy="1640205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3388995" y="537908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82 - Первый блок графа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3427730" y="516953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83 - Граф вызова процедур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2279106"/>
            <a:ext cx="12192000" cy="2928438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15265" y="1646555"/>
            <a:ext cx="6308725" cy="4034155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440" y="2947670"/>
            <a:ext cx="5137785" cy="1712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165" y="568071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84 - Дизассемблирование</a:t>
            </a:r>
            <a:endParaRPr lang="ru-RU" dirty="0"/>
          </a:p>
          <a:p>
            <a:pPr algn="ctr"/>
            <a:endParaRPr lang="en-US" altLang="ru-RU" dirty="0"/>
          </a:p>
        </p:txBody>
      </p:sp>
      <p:sp>
        <p:nvSpPr>
          <p:cNvPr id="5" name="TextBox 3"/>
          <p:cNvSpPr txBox="1"/>
          <p:nvPr/>
        </p:nvSpPr>
        <p:spPr>
          <a:xfrm>
            <a:off x="7087235" y="466026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85 - Дамп памяти</a:t>
            </a:r>
            <a:endParaRPr lang="en-US" alt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92220" y="615950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86 - Граф вызова процедур</a:t>
            </a:r>
            <a:endParaRPr lang="en-US" altLang="ru-RU" dirty="0"/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548640" y="1127125"/>
            <a:ext cx="11094720" cy="50419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92220" y="583374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87 - Фрагмет графа вызова процедур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10515" y="1993900"/>
            <a:ext cx="11685270" cy="373570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92220" y="570928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88 - Информация о файле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3077210" y="1177925"/>
            <a:ext cx="6037580" cy="453136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00" y="325437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89 - Дизассемблирование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441960" y="1022350"/>
            <a:ext cx="6450965" cy="437388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55" y="5606415"/>
            <a:ext cx="8583295" cy="1071245"/>
          </a:xfrm>
          <a:prstGeom prst="rect">
            <a:avLst/>
          </a:prstGeom>
        </p:spPr>
      </p:pic>
      <p:sp>
        <p:nvSpPr>
          <p:cNvPr id="8" name="TextBox 3"/>
          <p:cNvSpPr txBox="1"/>
          <p:nvPr/>
        </p:nvSpPr>
        <p:spPr>
          <a:xfrm>
            <a:off x="7755255" y="596773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90 - Дамп памяти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10610" y="634746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91 - Граф вызова процедур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371090" y="509905"/>
            <a:ext cx="7085965" cy="583755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10610" y="634746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92 - Декомпилирование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76550" y="481330"/>
            <a:ext cx="6075680" cy="586613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10610" y="603631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93 - Информация о файле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356803" y="1511618"/>
            <a:ext cx="7305675" cy="452437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6975" y="542290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94 - Дизассемблирование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567055" y="1366203"/>
            <a:ext cx="5867400" cy="412432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7301548" y="3821113"/>
            <a:ext cx="4124325" cy="90487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7060565" y="472630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95 -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7290" y="627888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96 - Граф вызова процедур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263015" y="172085"/>
            <a:ext cx="4302125" cy="6106795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7337425" y="1182687"/>
            <a:ext cx="3425825" cy="4893310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6746240" y="6182042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97 - Граф вызова процедур без строк кода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7290" y="608711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98 - Дизассемблирование</a:t>
            </a:r>
            <a:endParaRPr lang="en-US" altLang="ru-RU" dirty="0"/>
          </a:p>
        </p:txBody>
      </p:sp>
      <p:sp>
        <p:nvSpPr>
          <p:cNvPr id="9" name="TextBox 3"/>
          <p:cNvSpPr txBox="1"/>
          <p:nvPr/>
        </p:nvSpPr>
        <p:spPr>
          <a:xfrm>
            <a:off x="7164070" y="556069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99 - Дамп памяти</a:t>
            </a:r>
            <a:endParaRPr lang="en-US" alt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" y="1671320"/>
            <a:ext cx="6066155" cy="441579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115" y="4337685"/>
            <a:ext cx="4903470" cy="100774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x64dbg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92220" y="540702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100 - Граф вызова процедур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215265" y="2433320"/>
            <a:ext cx="11795125" cy="288925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403860" y="1494790"/>
            <a:ext cx="5656580" cy="4187825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928370" y="568261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101 - Информация о файле</a:t>
            </a:r>
            <a:endParaRPr lang="en-US" altLang="ru-RU" dirty="0"/>
          </a:p>
        </p:txBody>
      </p:sp>
      <p:pic>
        <p:nvPicPr>
          <p:cNvPr id="6" name="Изображение 5"/>
          <p:cNvPicPr/>
          <p:nvPr/>
        </p:nvPicPr>
        <p:blipFill>
          <a:blip r:embed="rId2"/>
          <a:stretch>
            <a:fillRect/>
          </a:stretch>
        </p:blipFill>
        <p:spPr>
          <a:xfrm>
            <a:off x="6530340" y="1021715"/>
            <a:ext cx="5386705" cy="5009515"/>
          </a:xfrm>
          <a:prstGeom prst="rect">
            <a:avLst/>
          </a:prstGeom>
        </p:spPr>
      </p:pic>
      <p:sp>
        <p:nvSpPr>
          <p:cNvPr id="8" name="TextBox 3"/>
          <p:cNvSpPr txBox="1"/>
          <p:nvPr/>
        </p:nvSpPr>
        <p:spPr>
          <a:xfrm>
            <a:off x="6919595" y="603123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102 - Декомпиляция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248400" y="325501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103 - Дизассемблирование</a:t>
            </a:r>
            <a:endParaRPr lang="en-US" altLang="ru-RU" dirty="0"/>
          </a:p>
        </p:txBody>
      </p:sp>
      <p:sp>
        <p:nvSpPr>
          <p:cNvPr id="8" name="TextBox 3"/>
          <p:cNvSpPr txBox="1"/>
          <p:nvPr/>
        </p:nvSpPr>
        <p:spPr>
          <a:xfrm>
            <a:off x="6689725" y="592137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104 - Дамп памяти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5415" y="1083945"/>
            <a:ext cx="6668135" cy="4243705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" y="5657215"/>
            <a:ext cx="7607300" cy="87693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3792220" y="633158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105 - Граф вызова процедур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762125" y="1021715"/>
            <a:ext cx="8724900" cy="534035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1217930" y="5835015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106 - Дизассемблирование</a:t>
            </a:r>
            <a:endParaRPr lang="en-US" altLang="ru-RU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0" y="1148715"/>
            <a:ext cx="6385560" cy="4559935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245" y="3429000"/>
            <a:ext cx="4936490" cy="1357630"/>
          </a:xfrm>
          <a:prstGeom prst="rect">
            <a:avLst/>
          </a:prstGeom>
        </p:spPr>
      </p:pic>
      <p:sp>
        <p:nvSpPr>
          <p:cNvPr id="10" name="TextBox 3"/>
          <p:cNvSpPr txBox="1"/>
          <p:nvPr/>
        </p:nvSpPr>
        <p:spPr>
          <a:xfrm>
            <a:off x="7077710" y="4786630"/>
            <a:ext cx="460756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107 - Дамп памяти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3596005" y="6077585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108 -</a:t>
            </a:r>
            <a:r>
              <a:rPr lang="en-US" altLang="ru-RU" dirty="0"/>
              <a:t> </a:t>
            </a:r>
            <a:r>
              <a:rPr lang="ru-RU" altLang="ru-RU" dirty="0"/>
              <a:t>Граф вызова процедур</a:t>
            </a:r>
            <a:r>
              <a:rPr lang="ru-RU" dirty="0"/>
              <a:t> 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771650" y="1329055"/>
            <a:ext cx="8629650" cy="474853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IdaPro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3596005" y="6077585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109 - Первый блок графа вызова процедур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361950" y="2042795"/>
            <a:ext cx="11468100" cy="403479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3596005" y="5627370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110 - Информация о файле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2993390" y="1205865"/>
            <a:ext cx="6204585" cy="441896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874395" y="6000750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111 - Дизассемблирование</a:t>
            </a:r>
            <a:endParaRPr lang="en-US" altLang="ru-RU" dirty="0"/>
          </a:p>
        </p:txBody>
      </p:sp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>
            <a:off x="540068" y="2000250"/>
            <a:ext cx="5667375" cy="4000500"/>
          </a:xfrm>
          <a:prstGeom prst="rect">
            <a:avLst/>
          </a:prstGeom>
        </p:spPr>
      </p:pic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35140" y="4078605"/>
            <a:ext cx="4478020" cy="1038860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6574155" y="5265420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112 - Дамп памяти</a:t>
            </a:r>
            <a:endParaRPr lang="en-US" alt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3810000" cy="744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874395" y="6000750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113 - Граф вызова процедур</a:t>
            </a:r>
            <a:endParaRPr lang="en-US" altLang="ru-RU" dirty="0"/>
          </a:p>
        </p:txBody>
      </p:sp>
      <p:sp>
        <p:nvSpPr>
          <p:cNvPr id="5" name="TextBox 3"/>
          <p:cNvSpPr txBox="1"/>
          <p:nvPr/>
        </p:nvSpPr>
        <p:spPr>
          <a:xfrm>
            <a:off x="6497320" y="6125210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114 - Граф вызова процедур без строк кода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699260" y="704215"/>
            <a:ext cx="3857625" cy="5296535"/>
          </a:xfrm>
          <a:prstGeom prst="rect">
            <a:avLst/>
          </a:prstGeom>
        </p:spPr>
      </p:pic>
      <p:pic>
        <p:nvPicPr>
          <p:cNvPr id="6" name="Изображение 5"/>
          <p:cNvPicPr/>
          <p:nvPr/>
        </p:nvPicPr>
        <p:blipFill>
          <a:blip r:embed="rId2"/>
          <a:stretch>
            <a:fillRect/>
          </a:stretch>
        </p:blipFill>
        <p:spPr>
          <a:xfrm>
            <a:off x="7552055" y="1587500"/>
            <a:ext cx="3372485" cy="447992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65" y="278130"/>
            <a:ext cx="719074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равнение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2022 x64 debug 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2022 x32 debug</a:t>
            </a:r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895985" y="5933440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11</a:t>
            </a:r>
            <a:r>
              <a:rPr lang="en-US" altLang="ru-RU" dirty="0"/>
              <a:t>5</a:t>
            </a:r>
            <a:r>
              <a:rPr lang="ru-RU" dirty="0"/>
              <a:t> - Дизассемблирование </a:t>
            </a:r>
            <a:endParaRPr lang="ru-RU" dirty="0"/>
          </a:p>
          <a:p>
            <a:pPr algn="ctr"/>
            <a:r>
              <a:rPr lang="en-US" altLang="ru-RU" dirty="0"/>
              <a:t>VS 2022 x64</a:t>
            </a:r>
            <a:endParaRPr lang="en-US" altLang="ru-RU" dirty="0"/>
          </a:p>
        </p:txBody>
      </p:sp>
      <p:sp>
        <p:nvSpPr>
          <p:cNvPr id="11" name="TextBox 3"/>
          <p:cNvSpPr txBox="1"/>
          <p:nvPr/>
        </p:nvSpPr>
        <p:spPr>
          <a:xfrm>
            <a:off x="6433185" y="6177915"/>
            <a:ext cx="499999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11</a:t>
            </a:r>
            <a:r>
              <a:rPr lang="en-US" altLang="ru-RU" dirty="0"/>
              <a:t>6</a:t>
            </a:r>
            <a:r>
              <a:rPr lang="ru-RU" dirty="0"/>
              <a:t> - Дизассемблирование </a:t>
            </a:r>
            <a:endParaRPr lang="ru-RU" dirty="0"/>
          </a:p>
          <a:p>
            <a:pPr algn="ctr"/>
            <a:r>
              <a:rPr lang="en-US" altLang="ru-RU" dirty="0"/>
              <a:t>VS 2022 x32</a:t>
            </a:r>
            <a:endParaRPr lang="en-US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graphicFrame>
        <p:nvGraphicFramePr>
          <p:cNvPr id="6" name="Объект 5"/>
          <p:cNvGraphicFramePr/>
          <p:nvPr/>
        </p:nvGraphicFramePr>
        <p:xfrm>
          <a:off x="1177290" y="1233805"/>
          <a:ext cx="4918710" cy="4788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4434840" imgH="4175760" progId="Paint.Picture">
                  <p:embed/>
                </p:oleObj>
              </mc:Choice>
              <mc:Fallback>
                <p:oleObj name="" r:id="rId1" imgW="4434840" imgH="4175760" progId="Paint.Picture">
                  <p:embed/>
                  <p:pic>
                    <p:nvPicPr>
                      <p:cNvPr id="0" name="Изображение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77290" y="1233805"/>
                        <a:ext cx="4918710" cy="4788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97305"/>
            <a:ext cx="4424680" cy="472503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сравнений программ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7863" y="1478290"/>
            <a:ext cx="7516274" cy="4363059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69881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464" y="1118587"/>
            <a:ext cx="113367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работы было проведено исследование шести исполняемых файлов с помощью следующих инструментов реверс-инжиниринга: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GHIDRA – бесплатный инструмент с мощным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декомпилятором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Позволяет восстанавливать код на C из ассемблера, строить графы и удобно анализировать логику программы.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IDA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 free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профессиональный дизассемблер. Даёт детальное представление ассемблерного кода, автоматически распознаёт библиотечные функции и упрощает навигацию.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Radare2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iaito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консольный фреймворк с высокой гибкостью. Требует привыкания к командам, но позволяет выполнять как статический анализ, так и отладку.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x64dbg – отладчик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Позволяет запускать программу по шагам и наблюдать за её поведением в реальном времени.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среда разработки со встроенным окном дизассемблера. Удобна для быстрого просмотра ассемблерного кода своих сборок, но не имеет продвинутых функций анализа.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69881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464" y="1118587"/>
            <a:ext cx="113367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лабораторной работы было выявлено, что в некоторых программах больше инструментов для анализа кода. В каких-то из них найти функцию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составляет труда, в иных же необходимо приложить дополнительные усилия. Также в программе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отсутствует возможность проанализировать файлы GCC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Сlang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в работе были практически изучены особенности генерации кода разными компиляторами в различных режимах, а также оценены возможности популярных инструментов реверс-инжиниринга.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.75,&quot;left&quot;:45.85,&quot;top&quot;:98.55,&quot;width&quot;:884.7}"/>
</p:tagLst>
</file>

<file path=ppt/tags/tag2.xml><?xml version="1.0" encoding="utf-8"?>
<p:tagLst xmlns:p="http://schemas.openxmlformats.org/presentationml/2006/main">
  <p:tag name="KSO_WM_DIAGRAM_VIRTUALLY_FRAME" val="{&quot;height&quot;:380.75,&quot;left&quot;:45.85,&quot;top&quot;:98.55,&quot;width&quot;:884.7}"/>
</p:tagLst>
</file>

<file path=ppt/tags/tag3.xml><?xml version="1.0" encoding="utf-8"?>
<p:tagLst xmlns:p="http://schemas.openxmlformats.org/presentationml/2006/main">
  <p:tag name="KSO_WM_DIAGRAM_VIRTUALLY_FRAME" val="{&quot;height&quot;:380.75,&quot;left&quot;:45.85,&quot;top&quot;:98.55,&quot;width&quot;:884.7}"/>
</p:tagLst>
</file>

<file path=ppt/tags/tag4.xml><?xml version="1.0" encoding="utf-8"?>
<p:tagLst xmlns:p="http://schemas.openxmlformats.org/presentationml/2006/main">
  <p:tag name="KSO_WM_DIAGRAM_VIRTUALLY_FRAME" val="{&quot;height&quot;:380.75,&quot;left&quot;:45.85,&quot;top&quot;:98.55,&quot;width&quot;:884.7}"/>
</p:tagLst>
</file>

<file path=ppt/tags/tag5.xml><?xml version="1.0" encoding="utf-8"?>
<p:tagLst xmlns:p="http://schemas.openxmlformats.org/presentationml/2006/main">
  <p:tag name="KSO_WM_DIAGRAM_VIRTUALLY_FRAME" val="{&quot;height&quot;:359.45,&quot;left&quot;:20.15,&quot;top&quot;:116.55,&quot;width&quot;:915.8}"/>
</p:tagLst>
</file>

<file path=ppt/tags/tag6.xml><?xml version="1.0" encoding="utf-8"?>
<p:tagLst xmlns:p="http://schemas.openxmlformats.org/presentationml/2006/main">
  <p:tag name="KSO_WM_DIAGRAM_VIRTUALLY_FRAME" val="{&quot;height&quot;:359.45,&quot;left&quot;:20.15,&quot;top&quot;:116.55,&quot;width&quot;:915.8}"/>
</p:tagLst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0</TotalTime>
  <Words>8735</Words>
  <Application>WPS Presentation</Application>
  <PresentationFormat>Широкоэкранный</PresentationFormat>
  <Paragraphs>703</Paragraphs>
  <Slides>82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2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Тема1</vt:lpstr>
      <vt:lpstr>Paint.Picture</vt:lpstr>
      <vt:lpstr>Отчет  по практической работе №2 по дисциплине «Технология реверс-инжиниринга»</vt:lpstr>
      <vt:lpstr>Оглавление</vt:lpstr>
      <vt:lpstr>PowerPoint 演示文稿</vt:lpstr>
      <vt:lpstr>PowerPoint 演示文稿</vt:lpstr>
      <vt:lpstr>Используемый код в лабораторной работе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Таблица сравнений программ</vt:lpstr>
      <vt:lpstr>Вывод:</vt:lpstr>
      <vt:lpstr>Вывод: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Lomanror Kostin</dc:creator>
  <cp:lastModifiedBy>Герман Блынский</cp:lastModifiedBy>
  <cp:revision>16</cp:revision>
  <dcterms:created xsi:type="dcterms:W3CDTF">2025-07-23T00:59:00Z</dcterms:created>
  <dcterms:modified xsi:type="dcterms:W3CDTF">2026-04-16T07:32:28Z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E9570D2E314C4FE9B5D2497FAA2293AB_13</vt:lpwstr>
  </property>
</Properties>
</file>